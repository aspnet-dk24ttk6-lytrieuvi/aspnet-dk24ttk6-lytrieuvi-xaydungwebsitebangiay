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Noto Sans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Poppins Bold" panose="020B0604020202020204" charset="0"/>
      <p:regular r:id="rId18"/>
    </p:embeddedFont>
    <p:embeddedFont>
      <p:font typeface="Poppins" panose="020B0604020202020204" charset="0"/>
      <p:regular r:id="rId19"/>
    </p:embeddedFont>
    <p:embeddedFont>
      <p:font typeface="Noto Sans Bold" panose="020B0604020202020204" charset="0"/>
      <p:regular r:id="rId20"/>
    </p:embeddedFont>
    <p:embeddedFont>
      <p:font typeface="Sansita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1051" y="1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68171">
            <a:off x="2537321" y="253215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7" y="0"/>
                </a:lnTo>
                <a:lnTo>
                  <a:pt x="8325707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854213" y="-1661893"/>
            <a:ext cx="9460517" cy="946051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155667" y="2125663"/>
            <a:ext cx="6791321" cy="679132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7517" r="-55815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-844289" y="8822784"/>
            <a:ext cx="7425704" cy="742570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728668" y="-2824047"/>
            <a:ext cx="3852747" cy="385274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5628197" y="-2170445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72000" y="86774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909856" y="-30861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197397" y="6090840"/>
            <a:ext cx="7006741" cy="73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8"/>
              </a:lnSpc>
            </a:pPr>
            <a:r>
              <a:rPr lang="en-US" sz="4377" b="1" dirty="0">
                <a:solidFill>
                  <a:srgbClr val="F4F6FC"/>
                </a:solidFill>
                <a:latin typeface="Poppins Bold"/>
                <a:ea typeface="Poppins Bold"/>
                <a:cs typeface="Poppins Bold"/>
                <a:sym typeface="Poppins Bold"/>
              </a:rPr>
              <a:t>ĐỒ ÁN TỐT </a:t>
            </a:r>
            <a:r>
              <a:rPr lang="en-US" sz="4377" b="1" dirty="0" smtClean="0">
                <a:solidFill>
                  <a:srgbClr val="F4F6FC"/>
                </a:solidFill>
                <a:latin typeface="Poppins Bold"/>
                <a:ea typeface="Poppins Bold"/>
                <a:cs typeface="Poppins Bold"/>
                <a:sym typeface="Poppins Bold"/>
              </a:rPr>
              <a:t>NGHIỆ</a:t>
            </a:r>
            <a:endParaRPr lang="en-US" sz="4377" b="1" dirty="0">
              <a:solidFill>
                <a:srgbClr val="F4F6FC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72180" y="2664914"/>
            <a:ext cx="11026083" cy="1872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5"/>
              </a:lnSpc>
            </a:pPr>
            <a:r>
              <a:rPr lang="en-US" sz="6500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XÂY DỰNG WEBSITE</a:t>
            </a:r>
          </a:p>
          <a:p>
            <a:pPr algn="l">
              <a:lnSpc>
                <a:spcPts val="7085"/>
              </a:lnSpc>
            </a:pPr>
            <a:r>
              <a:rPr lang="en-US" sz="6500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BÁN GIÀY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54213" y="-1661893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48394" y="3495679"/>
            <a:ext cx="6791321" cy="679132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7517" r="-5581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-844289" y="8822784"/>
            <a:ext cx="7425704" cy="742570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728668" y="-2824047"/>
            <a:ext cx="3852747" cy="385274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5628197" y="-2170445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72000" y="86774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909856" y="-30861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-210131" y="1414463"/>
            <a:ext cx="14212472" cy="143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5000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NỘI DUNG TRÌNH BÀY</a:t>
            </a:r>
          </a:p>
          <a:p>
            <a:pPr algn="ctr">
              <a:lnSpc>
                <a:spcPts val="5450"/>
              </a:lnSpc>
            </a:pPr>
            <a:endParaRPr lang="en-US" sz="5000" b="1" dirty="0">
              <a:solidFill>
                <a:srgbClr val="051D4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-210131" y="2722563"/>
            <a:ext cx="10842575" cy="6374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400" lvl="1" indent="-647700" algn="l">
              <a:lnSpc>
                <a:spcPts val="8400"/>
              </a:lnSpc>
              <a:buFont typeface="Arial"/>
              <a:buChar char="•"/>
            </a:pP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Giới</a:t>
            </a:r>
            <a:r>
              <a:rPr lang="en-US" sz="6000" dirty="0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 </a:t>
            </a: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thiệu</a:t>
            </a:r>
            <a:r>
              <a:rPr lang="en-US" sz="6000" dirty="0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 </a:t>
            </a: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đề</a:t>
            </a:r>
            <a:r>
              <a:rPr lang="en-US" sz="6000" dirty="0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 </a:t>
            </a: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tài</a:t>
            </a:r>
            <a:endParaRPr lang="en-US" sz="6000" dirty="0">
              <a:solidFill>
                <a:srgbClr val="051D40"/>
              </a:solidFill>
              <a:latin typeface="Times New Roman" panose="02020603050405020304" pitchFamily="18" charset="0"/>
              <a:ea typeface="Sansita"/>
              <a:cs typeface="Times New Roman" panose="02020603050405020304" pitchFamily="18" charset="0"/>
              <a:sym typeface="Sansita"/>
            </a:endParaRPr>
          </a:p>
          <a:p>
            <a:pPr marL="1295400" lvl="1" indent="-647700" algn="l">
              <a:lnSpc>
                <a:spcPts val="8400"/>
              </a:lnSpc>
              <a:buFont typeface="Arial"/>
              <a:buChar char="•"/>
            </a:pP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Công</a:t>
            </a:r>
            <a:r>
              <a:rPr lang="en-US" sz="6000" dirty="0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 </a:t>
            </a: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nghệ</a:t>
            </a:r>
            <a:r>
              <a:rPr lang="en-US" sz="6000" dirty="0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 </a:t>
            </a: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sử</a:t>
            </a:r>
            <a:r>
              <a:rPr lang="en-US" sz="6000" dirty="0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 </a:t>
            </a: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dụng</a:t>
            </a:r>
            <a:endParaRPr lang="en-US" sz="6000" dirty="0">
              <a:solidFill>
                <a:srgbClr val="051D40"/>
              </a:solidFill>
              <a:latin typeface="Times New Roman" panose="02020603050405020304" pitchFamily="18" charset="0"/>
              <a:ea typeface="Sansita"/>
              <a:cs typeface="Times New Roman" panose="02020603050405020304" pitchFamily="18" charset="0"/>
              <a:sym typeface="Sansita"/>
            </a:endParaRPr>
          </a:p>
          <a:p>
            <a:pPr marL="1295400" lvl="1" indent="-647700" algn="l">
              <a:lnSpc>
                <a:spcPts val="8400"/>
              </a:lnSpc>
              <a:buFont typeface="Arial"/>
              <a:buChar char="•"/>
            </a:pP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Phân</a:t>
            </a:r>
            <a:r>
              <a:rPr lang="en-US" sz="6000" dirty="0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 </a:t>
            </a: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tích</a:t>
            </a:r>
            <a:r>
              <a:rPr lang="en-US" sz="6000" dirty="0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 </a:t>
            </a: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hệ</a:t>
            </a:r>
            <a:r>
              <a:rPr lang="en-US" sz="6000" dirty="0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 </a:t>
            </a: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thống</a:t>
            </a:r>
            <a:r>
              <a:rPr lang="en-US" sz="6000" dirty="0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 </a:t>
            </a: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và</a:t>
            </a:r>
            <a:r>
              <a:rPr lang="en-US" sz="6000" dirty="0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 </a:t>
            </a: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quy</a:t>
            </a:r>
            <a:r>
              <a:rPr lang="en-US" sz="6000" dirty="0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 </a:t>
            </a: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trình</a:t>
            </a:r>
            <a:r>
              <a:rPr lang="en-US" sz="6000" dirty="0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 </a:t>
            </a:r>
          </a:p>
          <a:p>
            <a:pPr marL="1295400" lvl="1" indent="-647700" algn="l">
              <a:lnSpc>
                <a:spcPts val="8400"/>
              </a:lnSpc>
              <a:buFont typeface="Arial"/>
              <a:buChar char="•"/>
            </a:pP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Kết</a:t>
            </a:r>
            <a:r>
              <a:rPr lang="en-US" sz="6000" dirty="0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 </a:t>
            </a: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quả</a:t>
            </a:r>
            <a:r>
              <a:rPr lang="en-US" sz="6000" dirty="0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 </a:t>
            </a: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thực</a:t>
            </a:r>
            <a:r>
              <a:rPr lang="en-US" sz="6000" dirty="0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 </a:t>
            </a: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nghiệm</a:t>
            </a:r>
            <a:endParaRPr lang="en-US" sz="6000" dirty="0">
              <a:solidFill>
                <a:srgbClr val="051D40"/>
              </a:solidFill>
              <a:latin typeface="Times New Roman" panose="02020603050405020304" pitchFamily="18" charset="0"/>
              <a:ea typeface="Sansita"/>
              <a:cs typeface="Times New Roman" panose="02020603050405020304" pitchFamily="18" charset="0"/>
              <a:sym typeface="Sansita"/>
            </a:endParaRPr>
          </a:p>
          <a:p>
            <a:pPr marL="1295400" lvl="1" indent="-647700" algn="l">
              <a:lnSpc>
                <a:spcPts val="8400"/>
              </a:lnSpc>
              <a:buFont typeface="Arial"/>
              <a:buChar char="•"/>
            </a:pP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Kết</a:t>
            </a:r>
            <a:r>
              <a:rPr lang="en-US" sz="6000" dirty="0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 </a:t>
            </a:r>
            <a:r>
              <a:rPr lang="en-US" sz="6000" dirty="0" err="1">
                <a:solidFill>
                  <a:srgbClr val="051D40"/>
                </a:solidFill>
                <a:latin typeface="Times New Roman" panose="02020603050405020304" pitchFamily="18" charset="0"/>
                <a:ea typeface="Sansita"/>
                <a:cs typeface="Times New Roman" panose="02020603050405020304" pitchFamily="18" charset="0"/>
                <a:sym typeface="Sansita"/>
              </a:rPr>
              <a:t>luận</a:t>
            </a:r>
            <a:endParaRPr lang="en-US" sz="6000" dirty="0">
              <a:solidFill>
                <a:srgbClr val="051D40"/>
              </a:solidFill>
              <a:latin typeface="Times New Roman" panose="02020603050405020304" pitchFamily="18" charset="0"/>
              <a:ea typeface="Sansita"/>
              <a:cs typeface="Times New Roman" panose="02020603050405020304" pitchFamily="18" charset="0"/>
              <a:sym typeface="Sansit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5972747" y="4229339"/>
            <a:ext cx="4775925" cy="5789193"/>
          </a:xfrm>
          <a:custGeom>
            <a:avLst/>
            <a:gdLst/>
            <a:ahLst/>
            <a:cxnLst/>
            <a:rect l="l" t="t" r="r" b="b"/>
            <a:pathLst>
              <a:path w="4775925" h="5789193">
                <a:moveTo>
                  <a:pt x="0" y="0"/>
                </a:moveTo>
                <a:lnTo>
                  <a:pt x="4775925" y="0"/>
                </a:lnTo>
                <a:lnTo>
                  <a:pt x="4775925" y="5789193"/>
                </a:lnTo>
                <a:lnTo>
                  <a:pt x="0" y="57891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156" b="-585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50230" y="4252208"/>
            <a:ext cx="2702964" cy="5766324"/>
          </a:xfrm>
          <a:custGeom>
            <a:avLst/>
            <a:gdLst/>
            <a:ahLst/>
            <a:cxnLst/>
            <a:rect l="l" t="t" r="r" b="b"/>
            <a:pathLst>
              <a:path w="2702964" h="5766324">
                <a:moveTo>
                  <a:pt x="0" y="0"/>
                </a:moveTo>
                <a:lnTo>
                  <a:pt x="2702964" y="0"/>
                </a:lnTo>
                <a:lnTo>
                  <a:pt x="2702964" y="5766324"/>
                </a:lnTo>
                <a:lnTo>
                  <a:pt x="0" y="576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128627" y="4229339"/>
            <a:ext cx="5130673" cy="5789193"/>
          </a:xfrm>
          <a:custGeom>
            <a:avLst/>
            <a:gdLst/>
            <a:ahLst/>
            <a:cxnLst/>
            <a:rect l="l" t="t" r="r" b="b"/>
            <a:pathLst>
              <a:path w="5130673" h="5789193">
                <a:moveTo>
                  <a:pt x="0" y="0"/>
                </a:moveTo>
                <a:lnTo>
                  <a:pt x="5130673" y="0"/>
                </a:lnTo>
                <a:lnTo>
                  <a:pt x="5130673" y="5789193"/>
                </a:lnTo>
                <a:lnTo>
                  <a:pt x="0" y="5789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415371" y="567261"/>
            <a:ext cx="770271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GIỚI THIỆU ĐỀ TÀI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9551" y="2049463"/>
            <a:ext cx="18025472" cy="2060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Nhằm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đáp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ứng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thói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quen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mua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sắm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giày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dép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trực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tuyến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ngày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càng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cao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,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ShoeStore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được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phát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triển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giúp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khách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hàng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dễ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dàng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trải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nghiệm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tìm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kiếm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đa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chiều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(Size/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Màu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/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Giá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/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Thương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hiệu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)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và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đặt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hàng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COD an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toàn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với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cơ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chế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chống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trùng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đơn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(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Idempotency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);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đồng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thời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áp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dụng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giao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dịch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nguyên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tử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SQL Serializable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giúp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tự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động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hóa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việc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đồng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bộ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tồn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kho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và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hoàn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trả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hàng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hủy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minh </a:t>
            </a:r>
            <a:r>
              <a:rPr lang="en-US" sz="2900" dirty="0" err="1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bạch</a:t>
            </a:r>
            <a:r>
              <a:rPr lang="en-US" sz="2900" dirty="0">
                <a:solidFill>
                  <a:srgbClr val="051D4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30075" y="-798034"/>
            <a:ext cx="11261636" cy="8558844"/>
          </a:xfrm>
          <a:custGeom>
            <a:avLst/>
            <a:gdLst/>
            <a:ahLst/>
            <a:cxnLst/>
            <a:rect l="l" t="t" r="r" b="b"/>
            <a:pathLst>
              <a:path w="11261636" h="8558844">
                <a:moveTo>
                  <a:pt x="0" y="0"/>
                </a:moveTo>
                <a:lnTo>
                  <a:pt x="11261636" y="0"/>
                </a:lnTo>
                <a:lnTo>
                  <a:pt x="11261636" y="8558844"/>
                </a:lnTo>
                <a:lnTo>
                  <a:pt x="0" y="8558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90849" y="1894765"/>
            <a:ext cx="8414657" cy="6063868"/>
            <a:chOff x="0" y="0"/>
            <a:chExt cx="3583126" cy="25821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83126" cy="2582114"/>
            </a:xfrm>
            <a:custGeom>
              <a:avLst/>
              <a:gdLst/>
              <a:ahLst/>
              <a:cxnLst/>
              <a:rect l="l" t="t" r="r" b="b"/>
              <a:pathLst>
                <a:path w="3583126" h="2582114">
                  <a:moveTo>
                    <a:pt x="46003" y="0"/>
                  </a:moveTo>
                  <a:lnTo>
                    <a:pt x="3537123" y="0"/>
                  </a:lnTo>
                  <a:cubicBezTo>
                    <a:pt x="3549324" y="0"/>
                    <a:pt x="3561025" y="4847"/>
                    <a:pt x="3569652" y="13474"/>
                  </a:cubicBezTo>
                  <a:cubicBezTo>
                    <a:pt x="3578279" y="22101"/>
                    <a:pt x="3583126" y="33802"/>
                    <a:pt x="3583126" y="46003"/>
                  </a:cubicBezTo>
                  <a:lnTo>
                    <a:pt x="3583126" y="2536111"/>
                  </a:lnTo>
                  <a:cubicBezTo>
                    <a:pt x="3583126" y="2561517"/>
                    <a:pt x="3562530" y="2582114"/>
                    <a:pt x="3537123" y="2582114"/>
                  </a:cubicBezTo>
                  <a:lnTo>
                    <a:pt x="46003" y="2582114"/>
                  </a:lnTo>
                  <a:cubicBezTo>
                    <a:pt x="20596" y="2582114"/>
                    <a:pt x="0" y="2561517"/>
                    <a:pt x="0" y="2536111"/>
                  </a:cubicBezTo>
                  <a:lnTo>
                    <a:pt x="0" y="46003"/>
                  </a:lnTo>
                  <a:cubicBezTo>
                    <a:pt x="0" y="20596"/>
                    <a:pt x="20596" y="0"/>
                    <a:pt x="4600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583126" cy="2620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22584" y="338661"/>
            <a:ext cx="13111877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MỤC TIÊU ĐỀ TÀI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3478" y="2166095"/>
            <a:ext cx="7956707" cy="3451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6"/>
              </a:lnSpc>
            </a:pP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KHÁCH HÀNG</a:t>
            </a:r>
          </a:p>
          <a:p>
            <a:pPr marL="517575" lvl="1" indent="-258788" algn="l">
              <a:lnSpc>
                <a:spcPts val="3356"/>
              </a:lnSpc>
              <a:buFont typeface="Arial"/>
              <a:buChar char="•"/>
            </a:pP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Đăng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ký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,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đăng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nhập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&amp;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quản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lý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thông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tin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cá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nhân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.</a:t>
            </a:r>
          </a:p>
          <a:p>
            <a:pPr marL="517575" lvl="1" indent="-258788" algn="l">
              <a:lnSpc>
                <a:spcPts val="3356"/>
              </a:lnSpc>
              <a:buFont typeface="Arial"/>
              <a:buChar char="•"/>
            </a:pP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Tìm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kiếm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&amp;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lọc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sản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phẩm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theo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Size,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Màu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sắc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,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Thương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hiệu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,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Giá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.</a:t>
            </a:r>
          </a:p>
          <a:p>
            <a:pPr marL="517575" lvl="1" indent="-258788" algn="l">
              <a:lnSpc>
                <a:spcPts val="3356"/>
              </a:lnSpc>
              <a:buFont typeface="Arial"/>
              <a:buChar char="•"/>
            </a:pP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Chọn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biến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thể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sản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phẩm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(SKU)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và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kiểm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tra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tồn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kho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thực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tế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.</a:t>
            </a:r>
          </a:p>
          <a:p>
            <a:pPr marL="517575" lvl="1" indent="-258788" algn="l">
              <a:lnSpc>
                <a:spcPts val="3356"/>
              </a:lnSpc>
              <a:buFont typeface="Arial"/>
              <a:buChar char="•"/>
            </a:pP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Quản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lý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giỏ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hàng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trực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tuyến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&amp;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danh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sách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Yêu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thích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.</a:t>
            </a:r>
          </a:p>
          <a:p>
            <a:pPr marL="517575" lvl="1" indent="-258788" algn="l">
              <a:lnSpc>
                <a:spcPts val="3356"/>
              </a:lnSpc>
              <a:buFont typeface="Arial"/>
              <a:buChar char="•"/>
            </a:pP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Đặt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hàng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thanh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toán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COD &amp;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theo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dõi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lịch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sử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đơn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hàng</a:t>
            </a:r>
            <a:r>
              <a:rPr lang="en-US" sz="23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Hủy</a:t>
            </a:r>
            <a:r>
              <a:rPr lang="en-US" sz="2400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400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đơn</a:t>
            </a:r>
            <a:r>
              <a:rPr lang="en-US" sz="2400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400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hàng</a:t>
            </a:r>
            <a:r>
              <a:rPr lang="en-US" sz="2400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400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và</a:t>
            </a:r>
            <a:r>
              <a:rPr lang="en-US" sz="2400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400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tự</a:t>
            </a:r>
            <a:r>
              <a:rPr lang="en-US" sz="2400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400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động</a:t>
            </a:r>
            <a:r>
              <a:rPr lang="en-US" sz="2400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400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hoàn</a:t>
            </a:r>
            <a:r>
              <a:rPr lang="en-US" sz="2400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400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trả</a:t>
            </a:r>
            <a:r>
              <a:rPr lang="en-US" sz="2400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400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số</a:t>
            </a:r>
            <a:r>
              <a:rPr lang="en-US" sz="2400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400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lượng</a:t>
            </a:r>
            <a:r>
              <a:rPr lang="en-US" sz="2400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400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tồn</a:t>
            </a:r>
            <a:r>
              <a:rPr lang="en-US" sz="2400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400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kho</a:t>
            </a:r>
            <a:r>
              <a:rPr lang="en-US" sz="2400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.</a:t>
            </a:r>
          </a:p>
        </p:txBody>
      </p:sp>
      <p:sp>
        <p:nvSpPr>
          <p:cNvPr id="8" name="AutoShape 8"/>
          <p:cNvSpPr/>
          <p:nvPr/>
        </p:nvSpPr>
        <p:spPr>
          <a:xfrm>
            <a:off x="4891298" y="1309164"/>
            <a:ext cx="8505403" cy="0"/>
          </a:xfrm>
          <a:prstGeom prst="line">
            <a:avLst/>
          </a:prstGeom>
          <a:ln w="95250" cap="rnd">
            <a:solidFill>
              <a:srgbClr val="051D4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9412087" y="1894765"/>
            <a:ext cx="8875913" cy="6144754"/>
            <a:chOff x="0" y="0"/>
            <a:chExt cx="3583126" cy="24805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83126" cy="2480582"/>
            </a:xfrm>
            <a:custGeom>
              <a:avLst/>
              <a:gdLst/>
              <a:ahLst/>
              <a:cxnLst/>
              <a:rect l="l" t="t" r="r" b="b"/>
              <a:pathLst>
                <a:path w="3583126" h="2480582">
                  <a:moveTo>
                    <a:pt x="43612" y="0"/>
                  </a:moveTo>
                  <a:lnTo>
                    <a:pt x="3539514" y="0"/>
                  </a:lnTo>
                  <a:cubicBezTo>
                    <a:pt x="3563600" y="0"/>
                    <a:pt x="3583126" y="19526"/>
                    <a:pt x="3583126" y="43612"/>
                  </a:cubicBezTo>
                  <a:lnTo>
                    <a:pt x="3583126" y="2436970"/>
                  </a:lnTo>
                  <a:cubicBezTo>
                    <a:pt x="3583126" y="2461056"/>
                    <a:pt x="3563600" y="2480582"/>
                    <a:pt x="3539514" y="2480582"/>
                  </a:cubicBezTo>
                  <a:lnTo>
                    <a:pt x="43612" y="2480582"/>
                  </a:lnTo>
                  <a:cubicBezTo>
                    <a:pt x="19526" y="2480582"/>
                    <a:pt x="0" y="2461056"/>
                    <a:pt x="0" y="2436970"/>
                  </a:cubicBezTo>
                  <a:lnTo>
                    <a:pt x="0" y="43612"/>
                  </a:lnTo>
                  <a:cubicBezTo>
                    <a:pt x="0" y="19526"/>
                    <a:pt x="19526" y="0"/>
                    <a:pt x="43612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583126" cy="2518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653513" y="2166095"/>
            <a:ext cx="8393060" cy="5209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HỆ THỐNG &amp; NGHIỆP VỤ</a:t>
            </a:r>
          </a:p>
          <a:p>
            <a:pPr marL="518158" lvl="1" indent="-259079" algn="just">
              <a:lnSpc>
                <a:spcPts val="3359"/>
              </a:lnSpc>
              <a:buFont typeface="Arial"/>
              <a:buChar char="•"/>
            </a:pP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Khóa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giao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dịch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SQL (Serializable):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Đảm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bảo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trừ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kho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chính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xác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,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chống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tranh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chấp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hàng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khi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mua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cùng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lúc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.</a:t>
            </a:r>
          </a:p>
          <a:p>
            <a:pPr marL="518158" lvl="1" indent="-259079" algn="just">
              <a:lnSpc>
                <a:spcPts val="3359"/>
              </a:lnSpc>
              <a:buFont typeface="Arial"/>
              <a:buChar char="•"/>
            </a:pP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Cơ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chế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Idempotency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Token: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Ngăn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chặn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đặt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trùng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đơn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hàng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khi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bấm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nút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Đặt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hàng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nhiều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lần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.</a:t>
            </a:r>
          </a:p>
          <a:p>
            <a:pPr marL="518158" lvl="1" indent="-259079" algn="just">
              <a:lnSpc>
                <a:spcPts val="3359"/>
              </a:lnSpc>
              <a:buFont typeface="Arial"/>
              <a:buChar char="•"/>
            </a:pP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Tính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giá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tại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Server (Server-side Pricing):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Ngăn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chặn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tuyệt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đối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việc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can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thiệp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/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sửa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giá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từ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Client.</a:t>
            </a:r>
          </a:p>
          <a:p>
            <a:pPr marL="518158" lvl="1" indent="-259079" algn="just">
              <a:lnSpc>
                <a:spcPts val="3359"/>
              </a:lnSpc>
              <a:buFont typeface="Arial"/>
              <a:buChar char="•"/>
            </a:pP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Tự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động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hoàn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kho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(Auto-Restock):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Tự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động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cộng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lại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số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lượng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tồn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kho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ngay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khi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khách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hủy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đơn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.</a:t>
            </a:r>
          </a:p>
          <a:p>
            <a:pPr marL="518158" lvl="1" indent="-259079" algn="just">
              <a:lnSpc>
                <a:spcPts val="3359"/>
              </a:lnSpc>
              <a:buFont typeface="Arial"/>
              <a:buChar char="•"/>
            </a:pP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Bảo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mật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hệ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thống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: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Mã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hóa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mật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khẩu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PBKDF2,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chống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tấn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399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công</a:t>
            </a:r>
            <a:r>
              <a:rPr lang="en-US" sz="2399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CSRF (Anti-Forgery Token).</a:t>
            </a:r>
          </a:p>
          <a:p>
            <a:pPr algn="just">
              <a:lnSpc>
                <a:spcPts val="3359"/>
              </a:lnSpc>
            </a:pPr>
            <a:endParaRPr lang="en-US" sz="2399" dirty="0">
              <a:solidFill>
                <a:srgbClr val="F4F6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81485" y="-1450422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2" y="0"/>
                </a:lnTo>
                <a:lnTo>
                  <a:pt x="5224932" y="4635940"/>
                </a:lnTo>
                <a:lnTo>
                  <a:pt x="0" y="463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391895" y="3185518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3" y="0"/>
                </a:lnTo>
                <a:lnTo>
                  <a:pt x="5224933" y="4635941"/>
                </a:lnTo>
                <a:lnTo>
                  <a:pt x="0" y="4635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475474" y="8294851"/>
            <a:ext cx="7610227" cy="6752346"/>
          </a:xfrm>
          <a:custGeom>
            <a:avLst/>
            <a:gdLst/>
            <a:ahLst/>
            <a:cxnLst/>
            <a:rect l="l" t="t" r="r" b="b"/>
            <a:pathLst>
              <a:path w="7610227" h="6752346">
                <a:moveTo>
                  <a:pt x="0" y="0"/>
                </a:moveTo>
                <a:lnTo>
                  <a:pt x="7610226" y="0"/>
                </a:lnTo>
                <a:lnTo>
                  <a:pt x="7610226" y="6752347"/>
                </a:lnTo>
                <a:lnTo>
                  <a:pt x="0" y="67523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967638" y="554588"/>
            <a:ext cx="8951602" cy="176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06"/>
              </a:lnSpc>
            </a:pPr>
            <a:r>
              <a:rPr lang="en-US" sz="6061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CÔNG NGHỆ SỬ DỤNG</a:t>
            </a:r>
          </a:p>
          <a:p>
            <a:pPr algn="r">
              <a:lnSpc>
                <a:spcPts val="6606"/>
              </a:lnSpc>
            </a:pPr>
            <a:endParaRPr lang="en-US" sz="6061" b="1" dirty="0">
              <a:solidFill>
                <a:srgbClr val="051D4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Freeform 6"/>
          <p:cNvSpPr/>
          <p:nvPr/>
        </p:nvSpPr>
        <p:spPr>
          <a:xfrm rot="10165856">
            <a:off x="2662051" y="-2415415"/>
            <a:ext cx="5680119" cy="5039815"/>
          </a:xfrm>
          <a:custGeom>
            <a:avLst/>
            <a:gdLst/>
            <a:ahLst/>
            <a:cxnLst/>
            <a:rect l="l" t="t" r="r" b="b"/>
            <a:pathLst>
              <a:path w="5680119" h="5039815">
                <a:moveTo>
                  <a:pt x="0" y="0"/>
                </a:moveTo>
                <a:lnTo>
                  <a:pt x="5680118" y="0"/>
                </a:lnTo>
                <a:lnTo>
                  <a:pt x="5680118" y="5039814"/>
                </a:lnTo>
                <a:lnTo>
                  <a:pt x="0" y="5039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72777" y="2654406"/>
            <a:ext cx="4921515" cy="7632594"/>
            <a:chOff x="0" y="0"/>
            <a:chExt cx="1235892" cy="19166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35892" cy="1916698"/>
            </a:xfrm>
            <a:custGeom>
              <a:avLst/>
              <a:gdLst/>
              <a:ahLst/>
              <a:cxnLst/>
              <a:rect l="l" t="t" r="r" b="b"/>
              <a:pathLst>
                <a:path w="1235892" h="1916698">
                  <a:moveTo>
                    <a:pt x="78654" y="0"/>
                  </a:moveTo>
                  <a:lnTo>
                    <a:pt x="1157238" y="0"/>
                  </a:lnTo>
                  <a:cubicBezTo>
                    <a:pt x="1178098" y="0"/>
                    <a:pt x="1198104" y="8287"/>
                    <a:pt x="1212855" y="23037"/>
                  </a:cubicBezTo>
                  <a:cubicBezTo>
                    <a:pt x="1227605" y="37788"/>
                    <a:pt x="1235892" y="57794"/>
                    <a:pt x="1235892" y="78654"/>
                  </a:cubicBezTo>
                  <a:lnTo>
                    <a:pt x="1235892" y="1838045"/>
                  </a:lnTo>
                  <a:cubicBezTo>
                    <a:pt x="1235892" y="1858905"/>
                    <a:pt x="1227605" y="1878911"/>
                    <a:pt x="1212855" y="1893661"/>
                  </a:cubicBezTo>
                  <a:cubicBezTo>
                    <a:pt x="1198104" y="1908412"/>
                    <a:pt x="1178098" y="1916698"/>
                    <a:pt x="1157238" y="1916698"/>
                  </a:cubicBezTo>
                  <a:lnTo>
                    <a:pt x="78654" y="1916698"/>
                  </a:lnTo>
                  <a:cubicBezTo>
                    <a:pt x="57794" y="1916698"/>
                    <a:pt x="37788" y="1908412"/>
                    <a:pt x="23037" y="1893661"/>
                  </a:cubicBezTo>
                  <a:cubicBezTo>
                    <a:pt x="8287" y="1878911"/>
                    <a:pt x="0" y="1858905"/>
                    <a:pt x="0" y="1838045"/>
                  </a:cubicBezTo>
                  <a:lnTo>
                    <a:pt x="0" y="78654"/>
                  </a:lnTo>
                  <a:cubicBezTo>
                    <a:pt x="0" y="57794"/>
                    <a:pt x="8287" y="37788"/>
                    <a:pt x="23037" y="23037"/>
                  </a:cubicBezTo>
                  <a:cubicBezTo>
                    <a:pt x="37788" y="8287"/>
                    <a:pt x="57794" y="0"/>
                    <a:pt x="786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35892" cy="1954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83243" y="2596687"/>
            <a:ext cx="4921515" cy="7690313"/>
            <a:chOff x="0" y="0"/>
            <a:chExt cx="1235892" cy="19311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5892" cy="1931193"/>
            </a:xfrm>
            <a:custGeom>
              <a:avLst/>
              <a:gdLst/>
              <a:ahLst/>
              <a:cxnLst/>
              <a:rect l="l" t="t" r="r" b="b"/>
              <a:pathLst>
                <a:path w="1235892" h="1931193">
                  <a:moveTo>
                    <a:pt x="78654" y="0"/>
                  </a:moveTo>
                  <a:lnTo>
                    <a:pt x="1157238" y="0"/>
                  </a:lnTo>
                  <a:cubicBezTo>
                    <a:pt x="1178098" y="0"/>
                    <a:pt x="1198104" y="8287"/>
                    <a:pt x="1212855" y="23037"/>
                  </a:cubicBezTo>
                  <a:cubicBezTo>
                    <a:pt x="1227605" y="37788"/>
                    <a:pt x="1235892" y="57794"/>
                    <a:pt x="1235892" y="78654"/>
                  </a:cubicBezTo>
                  <a:lnTo>
                    <a:pt x="1235892" y="1852539"/>
                  </a:lnTo>
                  <a:cubicBezTo>
                    <a:pt x="1235892" y="1873399"/>
                    <a:pt x="1227605" y="1893405"/>
                    <a:pt x="1212855" y="1908156"/>
                  </a:cubicBezTo>
                  <a:cubicBezTo>
                    <a:pt x="1198104" y="1922906"/>
                    <a:pt x="1178098" y="1931193"/>
                    <a:pt x="1157238" y="1931193"/>
                  </a:cubicBezTo>
                  <a:lnTo>
                    <a:pt x="78654" y="1931193"/>
                  </a:lnTo>
                  <a:cubicBezTo>
                    <a:pt x="57794" y="1931193"/>
                    <a:pt x="37788" y="1922906"/>
                    <a:pt x="23037" y="1908156"/>
                  </a:cubicBezTo>
                  <a:cubicBezTo>
                    <a:pt x="8287" y="1893405"/>
                    <a:pt x="0" y="1873399"/>
                    <a:pt x="0" y="1852539"/>
                  </a:cubicBezTo>
                  <a:lnTo>
                    <a:pt x="0" y="78654"/>
                  </a:lnTo>
                  <a:cubicBezTo>
                    <a:pt x="0" y="57794"/>
                    <a:pt x="8287" y="37788"/>
                    <a:pt x="23037" y="23037"/>
                  </a:cubicBezTo>
                  <a:cubicBezTo>
                    <a:pt x="37788" y="8287"/>
                    <a:pt x="57794" y="0"/>
                    <a:pt x="786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35892" cy="1969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015400" y="2654406"/>
            <a:ext cx="4921515" cy="7632594"/>
            <a:chOff x="0" y="0"/>
            <a:chExt cx="1235892" cy="191669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35892" cy="1916698"/>
            </a:xfrm>
            <a:custGeom>
              <a:avLst/>
              <a:gdLst/>
              <a:ahLst/>
              <a:cxnLst/>
              <a:rect l="l" t="t" r="r" b="b"/>
              <a:pathLst>
                <a:path w="1235892" h="1916698">
                  <a:moveTo>
                    <a:pt x="78654" y="0"/>
                  </a:moveTo>
                  <a:lnTo>
                    <a:pt x="1157238" y="0"/>
                  </a:lnTo>
                  <a:cubicBezTo>
                    <a:pt x="1178098" y="0"/>
                    <a:pt x="1198104" y="8287"/>
                    <a:pt x="1212855" y="23037"/>
                  </a:cubicBezTo>
                  <a:cubicBezTo>
                    <a:pt x="1227605" y="37788"/>
                    <a:pt x="1235892" y="57794"/>
                    <a:pt x="1235892" y="78654"/>
                  </a:cubicBezTo>
                  <a:lnTo>
                    <a:pt x="1235892" y="1838045"/>
                  </a:lnTo>
                  <a:cubicBezTo>
                    <a:pt x="1235892" y="1858905"/>
                    <a:pt x="1227605" y="1878911"/>
                    <a:pt x="1212855" y="1893661"/>
                  </a:cubicBezTo>
                  <a:cubicBezTo>
                    <a:pt x="1198104" y="1908412"/>
                    <a:pt x="1178098" y="1916698"/>
                    <a:pt x="1157238" y="1916698"/>
                  </a:cubicBezTo>
                  <a:lnTo>
                    <a:pt x="78654" y="1916698"/>
                  </a:lnTo>
                  <a:cubicBezTo>
                    <a:pt x="57794" y="1916698"/>
                    <a:pt x="37788" y="1908412"/>
                    <a:pt x="23037" y="1893661"/>
                  </a:cubicBezTo>
                  <a:cubicBezTo>
                    <a:pt x="8287" y="1878911"/>
                    <a:pt x="0" y="1858905"/>
                    <a:pt x="0" y="1838045"/>
                  </a:cubicBezTo>
                  <a:lnTo>
                    <a:pt x="0" y="78654"/>
                  </a:lnTo>
                  <a:cubicBezTo>
                    <a:pt x="0" y="57794"/>
                    <a:pt x="8287" y="37788"/>
                    <a:pt x="23037" y="23037"/>
                  </a:cubicBezTo>
                  <a:cubicBezTo>
                    <a:pt x="37788" y="8287"/>
                    <a:pt x="57794" y="0"/>
                    <a:pt x="786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235892" cy="1954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736581" y="7216171"/>
            <a:ext cx="4193906" cy="2516344"/>
          </a:xfrm>
          <a:custGeom>
            <a:avLst/>
            <a:gdLst/>
            <a:ahLst/>
            <a:cxnLst/>
            <a:rect l="l" t="t" r="r" b="b"/>
            <a:pathLst>
              <a:path w="4193906" h="2516344">
                <a:moveTo>
                  <a:pt x="0" y="0"/>
                </a:moveTo>
                <a:lnTo>
                  <a:pt x="4193906" y="0"/>
                </a:lnTo>
                <a:lnTo>
                  <a:pt x="4193906" y="2516344"/>
                </a:lnTo>
                <a:lnTo>
                  <a:pt x="0" y="25163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126555" y="7555084"/>
            <a:ext cx="4354861" cy="2177431"/>
          </a:xfrm>
          <a:custGeom>
            <a:avLst/>
            <a:gdLst/>
            <a:ahLst/>
            <a:cxnLst/>
            <a:rect l="l" t="t" r="r" b="b"/>
            <a:pathLst>
              <a:path w="4354861" h="2177431">
                <a:moveTo>
                  <a:pt x="0" y="0"/>
                </a:moveTo>
                <a:lnTo>
                  <a:pt x="4354861" y="0"/>
                </a:lnTo>
                <a:lnTo>
                  <a:pt x="4354861" y="2177431"/>
                </a:lnTo>
                <a:lnTo>
                  <a:pt x="0" y="21774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677483" y="7299127"/>
            <a:ext cx="3597349" cy="2700089"/>
          </a:xfrm>
          <a:custGeom>
            <a:avLst/>
            <a:gdLst/>
            <a:ahLst/>
            <a:cxnLst/>
            <a:rect l="l" t="t" r="r" b="b"/>
            <a:pathLst>
              <a:path w="3597349" h="2700089">
                <a:moveTo>
                  <a:pt x="0" y="0"/>
                </a:moveTo>
                <a:lnTo>
                  <a:pt x="3597349" y="0"/>
                </a:lnTo>
                <a:lnTo>
                  <a:pt x="3597349" y="2700088"/>
                </a:lnTo>
                <a:lnTo>
                  <a:pt x="0" y="27000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136653" y="2997798"/>
            <a:ext cx="3499049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FRONTEND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27490" y="2997798"/>
            <a:ext cx="3390945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 smtClean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BACKEND</a:t>
            </a:r>
            <a:endParaRPr lang="en-US" sz="5000" b="1" dirty="0">
              <a:solidFill>
                <a:srgbClr val="FFFFFF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015400" y="2997798"/>
            <a:ext cx="477063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CƠ SỞ DỮ LIỆU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3216" y="4105267"/>
            <a:ext cx="4708372" cy="2815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ASP.NET Core Razor Views (.cshtml)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HTML5 &amp; CSS3 (Custom Styling site.css)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Bootstrap 5 (Responsive Layout)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JavaScript (Tối ưu trải nghiệm UI &amp; sự kiện động)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Google Fonts &amp; Modern Typography (Inter / Roboto)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12826" y="4296591"/>
            <a:ext cx="4564774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.NET 9.0 SDK (ASP.NET Core 9.0)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Mô</a:t>
            </a:r>
            <a:r>
              <a:rPr lang="en-US" sz="2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hình</a:t>
            </a:r>
            <a:r>
              <a:rPr lang="en-US" sz="2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Kiến</a:t>
            </a:r>
            <a:r>
              <a:rPr lang="en-US" sz="2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trúc</a:t>
            </a:r>
            <a:r>
              <a:rPr lang="en-US" sz="2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MVC (Model - View - Controller)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Ngôn</a:t>
            </a:r>
            <a:r>
              <a:rPr lang="en-US" sz="2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ngữ</a:t>
            </a:r>
            <a:r>
              <a:rPr lang="en-US" sz="2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C# 13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Business Services Pattern (</a:t>
            </a:r>
            <a:r>
              <a:rPr lang="en-US" sz="2000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ICartService</a:t>
            </a:r>
            <a:r>
              <a:rPr lang="en-US" sz="2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ICheckoutService</a:t>
            </a:r>
            <a:r>
              <a:rPr lang="en-US" sz="2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)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Phân</a:t>
            </a:r>
            <a:r>
              <a:rPr lang="en-US" sz="2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trang</a:t>
            </a:r>
            <a:r>
              <a:rPr lang="en-US" sz="2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LINQ Server-side (.Skip().Take())I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005875" y="4048769"/>
            <a:ext cx="4723635" cy="316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SQL Server 2019+ / MSSQLLocalDB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Entity Framework Core 9 (EF Core 9 ORM)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SQL Transaction Serializable (Khóa tồn kho an toàn)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ASP.NET Core Identity &amp; Cookie Auth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Anti-Forgery Protection (CSRF) &amp; Idempotency Token (Guid)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30075" y="-798034"/>
            <a:ext cx="11261636" cy="8558844"/>
          </a:xfrm>
          <a:custGeom>
            <a:avLst/>
            <a:gdLst/>
            <a:ahLst/>
            <a:cxnLst/>
            <a:rect l="l" t="t" r="r" b="b"/>
            <a:pathLst>
              <a:path w="11261636" h="8558844">
                <a:moveTo>
                  <a:pt x="0" y="0"/>
                </a:moveTo>
                <a:lnTo>
                  <a:pt x="11261636" y="0"/>
                </a:lnTo>
                <a:lnTo>
                  <a:pt x="11261636" y="8558844"/>
                </a:lnTo>
                <a:lnTo>
                  <a:pt x="0" y="8558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24244" y="6861499"/>
            <a:ext cx="18536489" cy="4179136"/>
          </a:xfrm>
          <a:custGeom>
            <a:avLst/>
            <a:gdLst/>
            <a:ahLst/>
            <a:cxnLst/>
            <a:rect l="l" t="t" r="r" b="b"/>
            <a:pathLst>
              <a:path w="18536489" h="4179136">
                <a:moveTo>
                  <a:pt x="0" y="0"/>
                </a:moveTo>
                <a:lnTo>
                  <a:pt x="18536488" y="0"/>
                </a:lnTo>
                <a:lnTo>
                  <a:pt x="18536488" y="4179135"/>
                </a:lnTo>
                <a:lnTo>
                  <a:pt x="0" y="41791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014999" y="3157264"/>
            <a:ext cx="6006434" cy="6954291"/>
            <a:chOff x="0" y="0"/>
            <a:chExt cx="1235892" cy="14309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35892" cy="1430924"/>
            </a:xfrm>
            <a:custGeom>
              <a:avLst/>
              <a:gdLst/>
              <a:ahLst/>
              <a:cxnLst/>
              <a:rect l="l" t="t" r="r" b="b"/>
              <a:pathLst>
                <a:path w="1235892" h="1430924">
                  <a:moveTo>
                    <a:pt x="64447" y="0"/>
                  </a:moveTo>
                  <a:lnTo>
                    <a:pt x="1171445" y="0"/>
                  </a:lnTo>
                  <a:cubicBezTo>
                    <a:pt x="1188537" y="0"/>
                    <a:pt x="1204930" y="6790"/>
                    <a:pt x="1217016" y="18876"/>
                  </a:cubicBezTo>
                  <a:cubicBezTo>
                    <a:pt x="1229102" y="30962"/>
                    <a:pt x="1235892" y="47355"/>
                    <a:pt x="1235892" y="64447"/>
                  </a:cubicBezTo>
                  <a:lnTo>
                    <a:pt x="1235892" y="1366477"/>
                  </a:lnTo>
                  <a:cubicBezTo>
                    <a:pt x="1235892" y="1383570"/>
                    <a:pt x="1229102" y="1399962"/>
                    <a:pt x="1217016" y="1412048"/>
                  </a:cubicBezTo>
                  <a:cubicBezTo>
                    <a:pt x="1204930" y="1424134"/>
                    <a:pt x="1188537" y="1430924"/>
                    <a:pt x="1171445" y="1430924"/>
                  </a:cubicBezTo>
                  <a:lnTo>
                    <a:pt x="64447" y="1430924"/>
                  </a:lnTo>
                  <a:cubicBezTo>
                    <a:pt x="47355" y="1430924"/>
                    <a:pt x="30962" y="1424134"/>
                    <a:pt x="18876" y="1412048"/>
                  </a:cubicBezTo>
                  <a:cubicBezTo>
                    <a:pt x="6790" y="1399962"/>
                    <a:pt x="0" y="1383570"/>
                    <a:pt x="0" y="1366477"/>
                  </a:cubicBezTo>
                  <a:lnTo>
                    <a:pt x="0" y="64447"/>
                  </a:lnTo>
                  <a:cubicBezTo>
                    <a:pt x="0" y="47355"/>
                    <a:pt x="6790" y="30962"/>
                    <a:pt x="18876" y="18876"/>
                  </a:cubicBezTo>
                  <a:cubicBezTo>
                    <a:pt x="30962" y="6790"/>
                    <a:pt x="47355" y="0"/>
                    <a:pt x="6444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35892" cy="1469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38186" y="3157264"/>
            <a:ext cx="6006434" cy="6954291"/>
            <a:chOff x="0" y="0"/>
            <a:chExt cx="1235892" cy="14309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35892" cy="1430924"/>
            </a:xfrm>
            <a:custGeom>
              <a:avLst/>
              <a:gdLst/>
              <a:ahLst/>
              <a:cxnLst/>
              <a:rect l="l" t="t" r="r" b="b"/>
              <a:pathLst>
                <a:path w="1235892" h="1430924">
                  <a:moveTo>
                    <a:pt x="64447" y="0"/>
                  </a:moveTo>
                  <a:lnTo>
                    <a:pt x="1171445" y="0"/>
                  </a:lnTo>
                  <a:cubicBezTo>
                    <a:pt x="1188537" y="0"/>
                    <a:pt x="1204930" y="6790"/>
                    <a:pt x="1217016" y="18876"/>
                  </a:cubicBezTo>
                  <a:cubicBezTo>
                    <a:pt x="1229102" y="30962"/>
                    <a:pt x="1235892" y="47355"/>
                    <a:pt x="1235892" y="64447"/>
                  </a:cubicBezTo>
                  <a:lnTo>
                    <a:pt x="1235892" y="1366477"/>
                  </a:lnTo>
                  <a:cubicBezTo>
                    <a:pt x="1235892" y="1383570"/>
                    <a:pt x="1229102" y="1399962"/>
                    <a:pt x="1217016" y="1412048"/>
                  </a:cubicBezTo>
                  <a:cubicBezTo>
                    <a:pt x="1204930" y="1424134"/>
                    <a:pt x="1188537" y="1430924"/>
                    <a:pt x="1171445" y="1430924"/>
                  </a:cubicBezTo>
                  <a:lnTo>
                    <a:pt x="64447" y="1430924"/>
                  </a:lnTo>
                  <a:cubicBezTo>
                    <a:pt x="47355" y="1430924"/>
                    <a:pt x="30962" y="1424134"/>
                    <a:pt x="18876" y="1412048"/>
                  </a:cubicBezTo>
                  <a:cubicBezTo>
                    <a:pt x="6790" y="1399962"/>
                    <a:pt x="0" y="1383570"/>
                    <a:pt x="0" y="1366477"/>
                  </a:cubicBezTo>
                  <a:lnTo>
                    <a:pt x="0" y="64447"/>
                  </a:lnTo>
                  <a:cubicBezTo>
                    <a:pt x="0" y="47355"/>
                    <a:pt x="6790" y="30962"/>
                    <a:pt x="18876" y="18876"/>
                  </a:cubicBezTo>
                  <a:cubicBezTo>
                    <a:pt x="30962" y="6790"/>
                    <a:pt x="47355" y="0"/>
                    <a:pt x="6444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35892" cy="1469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622584" y="1175969"/>
            <a:ext cx="13111877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TÀI LIỆU ĐẶC TẢ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51296" y="3972044"/>
            <a:ext cx="5133840" cy="4431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56"/>
              </a:lnSpc>
            </a:pPr>
            <a:r>
              <a:rPr lang="en-US" sz="38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Đặc</a:t>
            </a:r>
            <a:r>
              <a:rPr lang="en-US" sz="38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8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tả</a:t>
            </a:r>
            <a:r>
              <a:rPr lang="en-US" sz="38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8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yêu</a:t>
            </a:r>
            <a:r>
              <a:rPr lang="en-US" sz="38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8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cầu</a:t>
            </a:r>
            <a:r>
              <a:rPr lang="en-US" sz="38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8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phần</a:t>
            </a:r>
            <a:r>
              <a:rPr lang="en-US" sz="38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8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mềm</a:t>
            </a:r>
            <a:endParaRPr lang="en-US" sz="3897" dirty="0">
              <a:solidFill>
                <a:srgbClr val="F4F6FC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marL="647232" lvl="1" indent="-323616" algn="l">
              <a:lnSpc>
                <a:spcPts val="4196"/>
              </a:lnSpc>
              <a:buFont typeface="Arial"/>
              <a:buChar char="•"/>
            </a:pP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Mục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tiêu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và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phạm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vi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hệ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thống</a:t>
            </a:r>
            <a:endParaRPr lang="en-US" sz="2997" dirty="0">
              <a:solidFill>
                <a:srgbClr val="F4F6FC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marL="647232" lvl="1" indent="-323616" algn="l">
              <a:lnSpc>
                <a:spcPts val="4196"/>
              </a:lnSpc>
              <a:buFont typeface="Arial"/>
              <a:buChar char="•"/>
            </a:pP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Tác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nhân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và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yêu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cầu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chức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năng</a:t>
            </a:r>
            <a:endParaRPr lang="en-US" sz="2997" dirty="0">
              <a:solidFill>
                <a:srgbClr val="F4F6FC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marL="647232" lvl="1" indent="-323616" algn="l">
              <a:lnSpc>
                <a:spcPts val="4196"/>
              </a:lnSpc>
              <a:buFont typeface="Arial"/>
              <a:buChar char="•"/>
            </a:pP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Yêu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cầu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phi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chức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năng</a:t>
            </a:r>
            <a:endParaRPr lang="en-US" sz="2997" dirty="0">
              <a:solidFill>
                <a:srgbClr val="F4F6FC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marL="647232" lvl="1" indent="-323616" algn="l">
              <a:lnSpc>
                <a:spcPts val="4196"/>
              </a:lnSpc>
              <a:buFont typeface="Arial"/>
              <a:buChar char="•"/>
            </a:pP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Quy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trình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nghiệp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vụ</a:t>
            </a:r>
            <a:endParaRPr lang="en-US" sz="2997" dirty="0">
              <a:solidFill>
                <a:srgbClr val="F4F6FC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marL="647232" lvl="1" indent="-323616" algn="l">
              <a:lnSpc>
                <a:spcPts val="4196"/>
              </a:lnSpc>
              <a:buFont typeface="Arial"/>
              <a:buChar char="•"/>
            </a:pP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Use Case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và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đặc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997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tả</a:t>
            </a:r>
            <a:r>
              <a:rPr lang="en-US" sz="2997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Use Case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891298" y="2508422"/>
            <a:ext cx="8505403" cy="0"/>
          </a:xfrm>
          <a:prstGeom prst="line">
            <a:avLst/>
          </a:prstGeom>
          <a:ln w="95250" cap="rnd">
            <a:solidFill>
              <a:srgbClr val="051D4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0348344" y="3945471"/>
            <a:ext cx="5386118" cy="404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Đặc</a:t>
            </a:r>
            <a:r>
              <a:rPr lang="en-US" sz="3900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900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tả</a:t>
            </a:r>
            <a:r>
              <a:rPr lang="en-US" sz="3900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900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thiết</a:t>
            </a:r>
            <a:r>
              <a:rPr lang="en-US" sz="3900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900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kế</a:t>
            </a:r>
            <a:r>
              <a:rPr lang="en-US" sz="3900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900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phần</a:t>
            </a:r>
            <a:r>
              <a:rPr lang="en-US" sz="3900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900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mềm</a:t>
            </a:r>
            <a:endParaRPr lang="en-US" sz="3900" dirty="0">
              <a:solidFill>
                <a:srgbClr val="F4F6FC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marL="679037" lvl="1" indent="-339519" algn="l">
              <a:lnSpc>
                <a:spcPts val="4403"/>
              </a:lnSpc>
              <a:buFont typeface="Arial"/>
              <a:buChar char="•"/>
            </a:pP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Kiến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trúc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tổng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thể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hệ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thống</a:t>
            </a:r>
            <a:endParaRPr lang="en-US" sz="3145" dirty="0">
              <a:solidFill>
                <a:srgbClr val="F4F6FC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marL="679037" lvl="1" indent="-339519" algn="l">
              <a:lnSpc>
                <a:spcPts val="4403"/>
              </a:lnSpc>
              <a:buFont typeface="Arial"/>
              <a:buChar char="•"/>
            </a:pP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Thiết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kế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các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module</a:t>
            </a:r>
          </a:p>
          <a:p>
            <a:pPr marL="679037" lvl="1" indent="-339519" algn="l">
              <a:lnSpc>
                <a:spcPts val="4403"/>
              </a:lnSpc>
              <a:buFont typeface="Arial"/>
              <a:buChar char="•"/>
            </a:pP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Biểu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đồ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lớp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và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tuần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tự</a:t>
            </a:r>
            <a:endParaRPr lang="en-US" sz="3145" dirty="0">
              <a:solidFill>
                <a:srgbClr val="F4F6FC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marL="679037" lvl="1" indent="-339519" algn="l">
              <a:lnSpc>
                <a:spcPts val="4403"/>
              </a:lnSpc>
              <a:buFont typeface="Arial"/>
              <a:buChar char="•"/>
            </a:pP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Thiết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kế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cơ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sở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dữ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liệu</a:t>
            </a:r>
            <a:endParaRPr lang="en-US" sz="3145" dirty="0">
              <a:solidFill>
                <a:srgbClr val="F4F6FC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marL="679037" lvl="1" indent="-339519" algn="l">
              <a:lnSpc>
                <a:spcPts val="4403"/>
              </a:lnSpc>
              <a:buFont typeface="Arial"/>
              <a:buChar char="•"/>
            </a:pP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Biểu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đồ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thành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phần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và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triển</a:t>
            </a:r>
            <a:r>
              <a:rPr lang="en-US" sz="3145" dirty="0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3145" dirty="0" err="1">
                <a:solidFill>
                  <a:srgbClr val="F4F6FC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khai</a:t>
            </a:r>
            <a:endParaRPr lang="en-US" sz="3145" dirty="0">
              <a:solidFill>
                <a:srgbClr val="F4F6FC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91107" y="3917764"/>
            <a:ext cx="934047" cy="507349"/>
            <a:chOff x="0" y="0"/>
            <a:chExt cx="5066919" cy="2752217"/>
          </a:xfrm>
        </p:grpSpPr>
        <p:sp>
          <p:nvSpPr>
            <p:cNvPr id="3" name="Freeform 3"/>
            <p:cNvSpPr/>
            <p:nvPr/>
          </p:nvSpPr>
          <p:spPr>
            <a:xfrm>
              <a:off x="117094" y="125116"/>
              <a:ext cx="4949809" cy="2627081"/>
            </a:xfrm>
            <a:custGeom>
              <a:avLst/>
              <a:gdLst/>
              <a:ahLst/>
              <a:cxnLst/>
              <a:rect l="l" t="t" r="r" b="b"/>
              <a:pathLst>
                <a:path w="4949809" h="2627081">
                  <a:moveTo>
                    <a:pt x="4918075" y="1251183"/>
                  </a:moveTo>
                  <a:lnTo>
                    <a:pt x="3223895" y="14965"/>
                  </a:lnTo>
                  <a:cubicBezTo>
                    <a:pt x="3172841" y="-22246"/>
                    <a:pt x="3101086" y="14203"/>
                    <a:pt x="3101086" y="77322"/>
                  </a:cubicBezTo>
                  <a:lnTo>
                    <a:pt x="3101086" y="398886"/>
                  </a:lnTo>
                  <a:lnTo>
                    <a:pt x="77216" y="398886"/>
                  </a:lnTo>
                  <a:cubicBezTo>
                    <a:pt x="34544" y="398886"/>
                    <a:pt x="0" y="433430"/>
                    <a:pt x="0" y="476102"/>
                  </a:cubicBezTo>
                  <a:lnTo>
                    <a:pt x="0" y="2150978"/>
                  </a:lnTo>
                  <a:cubicBezTo>
                    <a:pt x="0" y="2193650"/>
                    <a:pt x="34544" y="2228194"/>
                    <a:pt x="77216" y="2228194"/>
                  </a:cubicBezTo>
                  <a:lnTo>
                    <a:pt x="3101213" y="2228194"/>
                  </a:lnTo>
                  <a:lnTo>
                    <a:pt x="3101213" y="2549758"/>
                  </a:lnTo>
                  <a:cubicBezTo>
                    <a:pt x="3101213" y="2612877"/>
                    <a:pt x="3172968" y="2649326"/>
                    <a:pt x="3224022" y="2612115"/>
                  </a:cubicBezTo>
                  <a:lnTo>
                    <a:pt x="4918202" y="1375897"/>
                  </a:lnTo>
                  <a:cubicBezTo>
                    <a:pt x="4960366" y="1345163"/>
                    <a:pt x="4960366" y="1282044"/>
                    <a:pt x="4918075" y="1251183"/>
                  </a:cubicBezTo>
                  <a:close/>
                </a:path>
              </a:pathLst>
            </a:custGeom>
            <a:solidFill>
              <a:srgbClr val="2381A1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21"/>
              <a:ext cx="4949809" cy="2627081"/>
            </a:xfrm>
            <a:custGeom>
              <a:avLst/>
              <a:gdLst/>
              <a:ahLst/>
              <a:cxnLst/>
              <a:rect l="l" t="t" r="r" b="b"/>
              <a:pathLst>
                <a:path w="4949809" h="2627081">
                  <a:moveTo>
                    <a:pt x="4918075" y="1251056"/>
                  </a:moveTo>
                  <a:lnTo>
                    <a:pt x="3224022" y="14965"/>
                  </a:lnTo>
                  <a:cubicBezTo>
                    <a:pt x="3172968" y="-22246"/>
                    <a:pt x="3101213" y="14203"/>
                    <a:pt x="3101213" y="77322"/>
                  </a:cubicBezTo>
                  <a:lnTo>
                    <a:pt x="3101213" y="398886"/>
                  </a:lnTo>
                  <a:lnTo>
                    <a:pt x="77216" y="398886"/>
                  </a:lnTo>
                  <a:cubicBezTo>
                    <a:pt x="34544" y="398886"/>
                    <a:pt x="0" y="433430"/>
                    <a:pt x="0" y="476102"/>
                  </a:cubicBezTo>
                  <a:lnTo>
                    <a:pt x="0" y="2150978"/>
                  </a:lnTo>
                  <a:cubicBezTo>
                    <a:pt x="0" y="2193650"/>
                    <a:pt x="34544" y="2228194"/>
                    <a:pt x="77216" y="2228194"/>
                  </a:cubicBezTo>
                  <a:lnTo>
                    <a:pt x="3101213" y="2228194"/>
                  </a:lnTo>
                  <a:lnTo>
                    <a:pt x="3101213" y="2549758"/>
                  </a:lnTo>
                  <a:cubicBezTo>
                    <a:pt x="3101213" y="2612877"/>
                    <a:pt x="3172968" y="2649326"/>
                    <a:pt x="3224022" y="2612115"/>
                  </a:cubicBezTo>
                  <a:lnTo>
                    <a:pt x="4918202" y="1375897"/>
                  </a:lnTo>
                  <a:cubicBezTo>
                    <a:pt x="4960366" y="1345036"/>
                    <a:pt x="4960366" y="1281917"/>
                    <a:pt x="4918075" y="1251056"/>
                  </a:cubicBezTo>
                  <a:close/>
                </a:path>
              </a:pathLst>
            </a:custGeom>
            <a:solidFill>
              <a:srgbClr val="2381A1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4330844" y="3548195"/>
            <a:ext cx="1652658" cy="1246487"/>
            <a:chOff x="0" y="0"/>
            <a:chExt cx="33035042" cy="24916071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2890262" cy="24771292"/>
            </a:xfrm>
            <a:custGeom>
              <a:avLst/>
              <a:gdLst/>
              <a:ahLst/>
              <a:cxnLst/>
              <a:rect l="l" t="t" r="r" b="b"/>
              <a:pathLst>
                <a:path w="32890262" h="24771292">
                  <a:moveTo>
                    <a:pt x="0" y="0"/>
                  </a:moveTo>
                  <a:lnTo>
                    <a:pt x="32890262" y="0"/>
                  </a:lnTo>
                  <a:lnTo>
                    <a:pt x="32890262" y="24771292"/>
                  </a:lnTo>
                  <a:lnTo>
                    <a:pt x="0" y="24771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3035041" cy="24916071"/>
            </a:xfrm>
            <a:custGeom>
              <a:avLst/>
              <a:gdLst/>
              <a:ahLst/>
              <a:cxnLst/>
              <a:rect l="l" t="t" r="r" b="b"/>
              <a:pathLst>
                <a:path w="33035041" h="24916071">
                  <a:moveTo>
                    <a:pt x="32890262" y="24771291"/>
                  </a:moveTo>
                  <a:lnTo>
                    <a:pt x="33035041" y="24771291"/>
                  </a:lnTo>
                  <a:lnTo>
                    <a:pt x="33035041" y="24916071"/>
                  </a:lnTo>
                  <a:lnTo>
                    <a:pt x="32890262" y="24916071"/>
                  </a:lnTo>
                  <a:lnTo>
                    <a:pt x="32890262" y="2477129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771291"/>
                  </a:lnTo>
                  <a:lnTo>
                    <a:pt x="0" y="24771291"/>
                  </a:lnTo>
                  <a:lnTo>
                    <a:pt x="0" y="144780"/>
                  </a:lnTo>
                  <a:close/>
                  <a:moveTo>
                    <a:pt x="0" y="24771291"/>
                  </a:moveTo>
                  <a:lnTo>
                    <a:pt x="144780" y="24771291"/>
                  </a:lnTo>
                  <a:lnTo>
                    <a:pt x="144780" y="24916071"/>
                  </a:lnTo>
                  <a:lnTo>
                    <a:pt x="0" y="24916071"/>
                  </a:lnTo>
                  <a:lnTo>
                    <a:pt x="0" y="24771291"/>
                  </a:lnTo>
                  <a:close/>
                  <a:moveTo>
                    <a:pt x="32890262" y="144780"/>
                  </a:moveTo>
                  <a:lnTo>
                    <a:pt x="33035041" y="144780"/>
                  </a:lnTo>
                  <a:lnTo>
                    <a:pt x="33035041" y="24771291"/>
                  </a:lnTo>
                  <a:lnTo>
                    <a:pt x="32890262" y="24771291"/>
                  </a:lnTo>
                  <a:lnTo>
                    <a:pt x="32890262" y="144780"/>
                  </a:lnTo>
                  <a:close/>
                  <a:moveTo>
                    <a:pt x="144780" y="24771291"/>
                  </a:moveTo>
                  <a:lnTo>
                    <a:pt x="32890262" y="24771291"/>
                  </a:lnTo>
                  <a:lnTo>
                    <a:pt x="32890262" y="24916071"/>
                  </a:lnTo>
                  <a:lnTo>
                    <a:pt x="144780" y="24916071"/>
                  </a:lnTo>
                  <a:lnTo>
                    <a:pt x="144780" y="24771291"/>
                  </a:lnTo>
                  <a:close/>
                  <a:moveTo>
                    <a:pt x="32890262" y="0"/>
                  </a:moveTo>
                  <a:lnTo>
                    <a:pt x="33035041" y="0"/>
                  </a:lnTo>
                  <a:lnTo>
                    <a:pt x="33035041" y="144780"/>
                  </a:lnTo>
                  <a:lnTo>
                    <a:pt x="32890262" y="144780"/>
                  </a:lnTo>
                  <a:lnTo>
                    <a:pt x="3289026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2890262" y="0"/>
                  </a:lnTo>
                  <a:lnTo>
                    <a:pt x="3289026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79956" y="3548195"/>
            <a:ext cx="1652658" cy="1246487"/>
            <a:chOff x="0" y="0"/>
            <a:chExt cx="33035042" cy="24916071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2890262" cy="24771292"/>
            </a:xfrm>
            <a:custGeom>
              <a:avLst/>
              <a:gdLst/>
              <a:ahLst/>
              <a:cxnLst/>
              <a:rect l="l" t="t" r="r" b="b"/>
              <a:pathLst>
                <a:path w="32890262" h="24771292">
                  <a:moveTo>
                    <a:pt x="0" y="0"/>
                  </a:moveTo>
                  <a:lnTo>
                    <a:pt x="32890262" y="0"/>
                  </a:lnTo>
                  <a:lnTo>
                    <a:pt x="32890262" y="24771292"/>
                  </a:lnTo>
                  <a:lnTo>
                    <a:pt x="0" y="24771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3035041" cy="24916071"/>
            </a:xfrm>
            <a:custGeom>
              <a:avLst/>
              <a:gdLst/>
              <a:ahLst/>
              <a:cxnLst/>
              <a:rect l="l" t="t" r="r" b="b"/>
              <a:pathLst>
                <a:path w="33035041" h="24916071">
                  <a:moveTo>
                    <a:pt x="32890262" y="24771291"/>
                  </a:moveTo>
                  <a:lnTo>
                    <a:pt x="33035041" y="24771291"/>
                  </a:lnTo>
                  <a:lnTo>
                    <a:pt x="33035041" y="24916071"/>
                  </a:lnTo>
                  <a:lnTo>
                    <a:pt x="32890262" y="24916071"/>
                  </a:lnTo>
                  <a:lnTo>
                    <a:pt x="32890262" y="2477129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771291"/>
                  </a:lnTo>
                  <a:lnTo>
                    <a:pt x="0" y="24771291"/>
                  </a:lnTo>
                  <a:lnTo>
                    <a:pt x="0" y="144780"/>
                  </a:lnTo>
                  <a:close/>
                  <a:moveTo>
                    <a:pt x="0" y="24771291"/>
                  </a:moveTo>
                  <a:lnTo>
                    <a:pt x="144780" y="24771291"/>
                  </a:lnTo>
                  <a:lnTo>
                    <a:pt x="144780" y="24916071"/>
                  </a:lnTo>
                  <a:lnTo>
                    <a:pt x="0" y="24916071"/>
                  </a:lnTo>
                  <a:lnTo>
                    <a:pt x="0" y="24771291"/>
                  </a:lnTo>
                  <a:close/>
                  <a:moveTo>
                    <a:pt x="32890262" y="144780"/>
                  </a:moveTo>
                  <a:lnTo>
                    <a:pt x="33035041" y="144780"/>
                  </a:lnTo>
                  <a:lnTo>
                    <a:pt x="33035041" y="24771291"/>
                  </a:lnTo>
                  <a:lnTo>
                    <a:pt x="32890262" y="24771291"/>
                  </a:lnTo>
                  <a:lnTo>
                    <a:pt x="32890262" y="144780"/>
                  </a:lnTo>
                  <a:close/>
                  <a:moveTo>
                    <a:pt x="144780" y="24771291"/>
                  </a:moveTo>
                  <a:lnTo>
                    <a:pt x="32890262" y="24771291"/>
                  </a:lnTo>
                  <a:lnTo>
                    <a:pt x="32890262" y="24916071"/>
                  </a:lnTo>
                  <a:lnTo>
                    <a:pt x="144780" y="24916071"/>
                  </a:lnTo>
                  <a:lnTo>
                    <a:pt x="144780" y="24771291"/>
                  </a:lnTo>
                  <a:close/>
                  <a:moveTo>
                    <a:pt x="32890262" y="0"/>
                  </a:moveTo>
                  <a:lnTo>
                    <a:pt x="33035041" y="0"/>
                  </a:lnTo>
                  <a:lnTo>
                    <a:pt x="33035041" y="144780"/>
                  </a:lnTo>
                  <a:lnTo>
                    <a:pt x="32890262" y="144780"/>
                  </a:lnTo>
                  <a:lnTo>
                    <a:pt x="3289026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2890262" y="0"/>
                  </a:lnTo>
                  <a:lnTo>
                    <a:pt x="3289026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983041" y="3548195"/>
            <a:ext cx="1652658" cy="1246487"/>
            <a:chOff x="0" y="0"/>
            <a:chExt cx="33035042" cy="2491607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2890262" cy="24771292"/>
            </a:xfrm>
            <a:custGeom>
              <a:avLst/>
              <a:gdLst/>
              <a:ahLst/>
              <a:cxnLst/>
              <a:rect l="l" t="t" r="r" b="b"/>
              <a:pathLst>
                <a:path w="32890262" h="24771292">
                  <a:moveTo>
                    <a:pt x="0" y="0"/>
                  </a:moveTo>
                  <a:lnTo>
                    <a:pt x="32890262" y="0"/>
                  </a:lnTo>
                  <a:lnTo>
                    <a:pt x="32890262" y="24771292"/>
                  </a:lnTo>
                  <a:lnTo>
                    <a:pt x="0" y="24771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3035041" cy="24916071"/>
            </a:xfrm>
            <a:custGeom>
              <a:avLst/>
              <a:gdLst/>
              <a:ahLst/>
              <a:cxnLst/>
              <a:rect l="l" t="t" r="r" b="b"/>
              <a:pathLst>
                <a:path w="33035041" h="24916071">
                  <a:moveTo>
                    <a:pt x="32890262" y="24771291"/>
                  </a:moveTo>
                  <a:lnTo>
                    <a:pt x="33035041" y="24771291"/>
                  </a:lnTo>
                  <a:lnTo>
                    <a:pt x="33035041" y="24916071"/>
                  </a:lnTo>
                  <a:lnTo>
                    <a:pt x="32890262" y="24916071"/>
                  </a:lnTo>
                  <a:lnTo>
                    <a:pt x="32890262" y="2477129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771291"/>
                  </a:lnTo>
                  <a:lnTo>
                    <a:pt x="0" y="24771291"/>
                  </a:lnTo>
                  <a:lnTo>
                    <a:pt x="0" y="144780"/>
                  </a:lnTo>
                  <a:close/>
                  <a:moveTo>
                    <a:pt x="0" y="24771291"/>
                  </a:moveTo>
                  <a:lnTo>
                    <a:pt x="144780" y="24771291"/>
                  </a:lnTo>
                  <a:lnTo>
                    <a:pt x="144780" y="24916071"/>
                  </a:lnTo>
                  <a:lnTo>
                    <a:pt x="0" y="24916071"/>
                  </a:lnTo>
                  <a:lnTo>
                    <a:pt x="0" y="24771291"/>
                  </a:lnTo>
                  <a:close/>
                  <a:moveTo>
                    <a:pt x="32890262" y="144780"/>
                  </a:moveTo>
                  <a:lnTo>
                    <a:pt x="33035041" y="144780"/>
                  </a:lnTo>
                  <a:lnTo>
                    <a:pt x="33035041" y="24771291"/>
                  </a:lnTo>
                  <a:lnTo>
                    <a:pt x="32890262" y="24771291"/>
                  </a:lnTo>
                  <a:lnTo>
                    <a:pt x="32890262" y="144780"/>
                  </a:lnTo>
                  <a:close/>
                  <a:moveTo>
                    <a:pt x="144780" y="24771291"/>
                  </a:moveTo>
                  <a:lnTo>
                    <a:pt x="32890262" y="24771291"/>
                  </a:lnTo>
                  <a:lnTo>
                    <a:pt x="32890262" y="24916071"/>
                  </a:lnTo>
                  <a:lnTo>
                    <a:pt x="144780" y="24916071"/>
                  </a:lnTo>
                  <a:lnTo>
                    <a:pt x="144780" y="24771291"/>
                  </a:lnTo>
                  <a:close/>
                  <a:moveTo>
                    <a:pt x="32890262" y="0"/>
                  </a:moveTo>
                  <a:lnTo>
                    <a:pt x="33035041" y="0"/>
                  </a:lnTo>
                  <a:lnTo>
                    <a:pt x="33035041" y="144780"/>
                  </a:lnTo>
                  <a:lnTo>
                    <a:pt x="32890262" y="144780"/>
                  </a:lnTo>
                  <a:lnTo>
                    <a:pt x="3289026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2890262" y="0"/>
                  </a:lnTo>
                  <a:lnTo>
                    <a:pt x="3289026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1603863" y="3548195"/>
            <a:ext cx="1652658" cy="1246487"/>
            <a:chOff x="0" y="0"/>
            <a:chExt cx="33035042" cy="24916071"/>
          </a:xfrm>
        </p:grpSpPr>
        <p:sp>
          <p:nvSpPr>
            <p:cNvPr id="15" name="Freeform 15"/>
            <p:cNvSpPr/>
            <p:nvPr/>
          </p:nvSpPr>
          <p:spPr>
            <a:xfrm>
              <a:off x="72390" y="72390"/>
              <a:ext cx="32890262" cy="24771292"/>
            </a:xfrm>
            <a:custGeom>
              <a:avLst/>
              <a:gdLst/>
              <a:ahLst/>
              <a:cxnLst/>
              <a:rect l="l" t="t" r="r" b="b"/>
              <a:pathLst>
                <a:path w="32890262" h="24771292">
                  <a:moveTo>
                    <a:pt x="0" y="0"/>
                  </a:moveTo>
                  <a:lnTo>
                    <a:pt x="32890262" y="0"/>
                  </a:lnTo>
                  <a:lnTo>
                    <a:pt x="32890262" y="24771292"/>
                  </a:lnTo>
                  <a:lnTo>
                    <a:pt x="0" y="24771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33035041" cy="24916071"/>
            </a:xfrm>
            <a:custGeom>
              <a:avLst/>
              <a:gdLst/>
              <a:ahLst/>
              <a:cxnLst/>
              <a:rect l="l" t="t" r="r" b="b"/>
              <a:pathLst>
                <a:path w="33035041" h="24916071">
                  <a:moveTo>
                    <a:pt x="32890262" y="24771291"/>
                  </a:moveTo>
                  <a:lnTo>
                    <a:pt x="33035041" y="24771291"/>
                  </a:lnTo>
                  <a:lnTo>
                    <a:pt x="33035041" y="24916071"/>
                  </a:lnTo>
                  <a:lnTo>
                    <a:pt x="32890262" y="24916071"/>
                  </a:lnTo>
                  <a:lnTo>
                    <a:pt x="32890262" y="2477129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771291"/>
                  </a:lnTo>
                  <a:lnTo>
                    <a:pt x="0" y="24771291"/>
                  </a:lnTo>
                  <a:lnTo>
                    <a:pt x="0" y="144780"/>
                  </a:lnTo>
                  <a:close/>
                  <a:moveTo>
                    <a:pt x="0" y="24771291"/>
                  </a:moveTo>
                  <a:lnTo>
                    <a:pt x="144780" y="24771291"/>
                  </a:lnTo>
                  <a:lnTo>
                    <a:pt x="144780" y="24916071"/>
                  </a:lnTo>
                  <a:lnTo>
                    <a:pt x="0" y="24916071"/>
                  </a:lnTo>
                  <a:lnTo>
                    <a:pt x="0" y="24771291"/>
                  </a:lnTo>
                  <a:close/>
                  <a:moveTo>
                    <a:pt x="32890262" y="144780"/>
                  </a:moveTo>
                  <a:lnTo>
                    <a:pt x="33035041" y="144780"/>
                  </a:lnTo>
                  <a:lnTo>
                    <a:pt x="33035041" y="24771291"/>
                  </a:lnTo>
                  <a:lnTo>
                    <a:pt x="32890262" y="24771291"/>
                  </a:lnTo>
                  <a:lnTo>
                    <a:pt x="32890262" y="144780"/>
                  </a:lnTo>
                  <a:close/>
                  <a:moveTo>
                    <a:pt x="144780" y="24771291"/>
                  </a:moveTo>
                  <a:lnTo>
                    <a:pt x="32890262" y="24771291"/>
                  </a:lnTo>
                  <a:lnTo>
                    <a:pt x="32890262" y="24916071"/>
                  </a:lnTo>
                  <a:lnTo>
                    <a:pt x="144780" y="24916071"/>
                  </a:lnTo>
                  <a:lnTo>
                    <a:pt x="144780" y="24771291"/>
                  </a:lnTo>
                  <a:close/>
                  <a:moveTo>
                    <a:pt x="32890262" y="0"/>
                  </a:moveTo>
                  <a:lnTo>
                    <a:pt x="33035041" y="0"/>
                  </a:lnTo>
                  <a:lnTo>
                    <a:pt x="33035041" y="144780"/>
                  </a:lnTo>
                  <a:lnTo>
                    <a:pt x="32890262" y="144780"/>
                  </a:lnTo>
                  <a:lnTo>
                    <a:pt x="3289026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2890262" y="0"/>
                  </a:lnTo>
                  <a:lnTo>
                    <a:pt x="3289026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5072197" y="3548195"/>
            <a:ext cx="1652658" cy="1246487"/>
            <a:chOff x="0" y="0"/>
            <a:chExt cx="33035042" cy="24916071"/>
          </a:xfrm>
        </p:grpSpPr>
        <p:sp>
          <p:nvSpPr>
            <p:cNvPr id="18" name="Freeform 18"/>
            <p:cNvSpPr/>
            <p:nvPr/>
          </p:nvSpPr>
          <p:spPr>
            <a:xfrm>
              <a:off x="72390" y="72390"/>
              <a:ext cx="32890262" cy="24771292"/>
            </a:xfrm>
            <a:custGeom>
              <a:avLst/>
              <a:gdLst/>
              <a:ahLst/>
              <a:cxnLst/>
              <a:rect l="l" t="t" r="r" b="b"/>
              <a:pathLst>
                <a:path w="32890262" h="24771292">
                  <a:moveTo>
                    <a:pt x="0" y="0"/>
                  </a:moveTo>
                  <a:lnTo>
                    <a:pt x="32890262" y="0"/>
                  </a:lnTo>
                  <a:lnTo>
                    <a:pt x="32890262" y="24771292"/>
                  </a:lnTo>
                  <a:lnTo>
                    <a:pt x="0" y="24771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33035041" cy="24916071"/>
            </a:xfrm>
            <a:custGeom>
              <a:avLst/>
              <a:gdLst/>
              <a:ahLst/>
              <a:cxnLst/>
              <a:rect l="l" t="t" r="r" b="b"/>
              <a:pathLst>
                <a:path w="33035041" h="24916071">
                  <a:moveTo>
                    <a:pt x="32890262" y="24771291"/>
                  </a:moveTo>
                  <a:lnTo>
                    <a:pt x="33035041" y="24771291"/>
                  </a:lnTo>
                  <a:lnTo>
                    <a:pt x="33035041" y="24916071"/>
                  </a:lnTo>
                  <a:lnTo>
                    <a:pt x="32890262" y="24916071"/>
                  </a:lnTo>
                  <a:lnTo>
                    <a:pt x="32890262" y="2477129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771291"/>
                  </a:lnTo>
                  <a:lnTo>
                    <a:pt x="0" y="24771291"/>
                  </a:lnTo>
                  <a:lnTo>
                    <a:pt x="0" y="144780"/>
                  </a:lnTo>
                  <a:close/>
                  <a:moveTo>
                    <a:pt x="0" y="24771291"/>
                  </a:moveTo>
                  <a:lnTo>
                    <a:pt x="144780" y="24771291"/>
                  </a:lnTo>
                  <a:lnTo>
                    <a:pt x="144780" y="24916071"/>
                  </a:lnTo>
                  <a:lnTo>
                    <a:pt x="0" y="24916071"/>
                  </a:lnTo>
                  <a:lnTo>
                    <a:pt x="0" y="24771291"/>
                  </a:lnTo>
                  <a:close/>
                  <a:moveTo>
                    <a:pt x="32890262" y="144780"/>
                  </a:moveTo>
                  <a:lnTo>
                    <a:pt x="33035041" y="144780"/>
                  </a:lnTo>
                  <a:lnTo>
                    <a:pt x="33035041" y="24771291"/>
                  </a:lnTo>
                  <a:lnTo>
                    <a:pt x="32890262" y="24771291"/>
                  </a:lnTo>
                  <a:lnTo>
                    <a:pt x="32890262" y="144780"/>
                  </a:lnTo>
                  <a:close/>
                  <a:moveTo>
                    <a:pt x="144780" y="24771291"/>
                  </a:moveTo>
                  <a:lnTo>
                    <a:pt x="32890262" y="24771291"/>
                  </a:lnTo>
                  <a:lnTo>
                    <a:pt x="32890262" y="24916071"/>
                  </a:lnTo>
                  <a:lnTo>
                    <a:pt x="144780" y="24916071"/>
                  </a:lnTo>
                  <a:lnTo>
                    <a:pt x="144780" y="24771291"/>
                  </a:lnTo>
                  <a:close/>
                  <a:moveTo>
                    <a:pt x="32890262" y="0"/>
                  </a:moveTo>
                  <a:lnTo>
                    <a:pt x="33035041" y="0"/>
                  </a:lnTo>
                  <a:lnTo>
                    <a:pt x="33035041" y="144780"/>
                  </a:lnTo>
                  <a:lnTo>
                    <a:pt x="32890262" y="144780"/>
                  </a:lnTo>
                  <a:lnTo>
                    <a:pt x="3289026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2890262" y="0"/>
                  </a:lnTo>
                  <a:lnTo>
                    <a:pt x="3289026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6515594" y="3917764"/>
            <a:ext cx="934047" cy="507349"/>
            <a:chOff x="0" y="0"/>
            <a:chExt cx="5066919" cy="2752217"/>
          </a:xfrm>
        </p:grpSpPr>
        <p:sp>
          <p:nvSpPr>
            <p:cNvPr id="21" name="Freeform 21"/>
            <p:cNvSpPr/>
            <p:nvPr/>
          </p:nvSpPr>
          <p:spPr>
            <a:xfrm>
              <a:off x="117094" y="125116"/>
              <a:ext cx="4949809" cy="2627081"/>
            </a:xfrm>
            <a:custGeom>
              <a:avLst/>
              <a:gdLst/>
              <a:ahLst/>
              <a:cxnLst/>
              <a:rect l="l" t="t" r="r" b="b"/>
              <a:pathLst>
                <a:path w="4949809" h="2627081">
                  <a:moveTo>
                    <a:pt x="4918075" y="1251183"/>
                  </a:moveTo>
                  <a:lnTo>
                    <a:pt x="3223895" y="14965"/>
                  </a:lnTo>
                  <a:cubicBezTo>
                    <a:pt x="3172841" y="-22246"/>
                    <a:pt x="3101086" y="14203"/>
                    <a:pt x="3101086" y="77322"/>
                  </a:cubicBezTo>
                  <a:lnTo>
                    <a:pt x="3101086" y="398886"/>
                  </a:lnTo>
                  <a:lnTo>
                    <a:pt x="77216" y="398886"/>
                  </a:lnTo>
                  <a:cubicBezTo>
                    <a:pt x="34544" y="398886"/>
                    <a:pt x="0" y="433430"/>
                    <a:pt x="0" y="476102"/>
                  </a:cubicBezTo>
                  <a:lnTo>
                    <a:pt x="0" y="2150978"/>
                  </a:lnTo>
                  <a:cubicBezTo>
                    <a:pt x="0" y="2193650"/>
                    <a:pt x="34544" y="2228194"/>
                    <a:pt x="77216" y="2228194"/>
                  </a:cubicBezTo>
                  <a:lnTo>
                    <a:pt x="3101213" y="2228194"/>
                  </a:lnTo>
                  <a:lnTo>
                    <a:pt x="3101213" y="2549758"/>
                  </a:lnTo>
                  <a:cubicBezTo>
                    <a:pt x="3101213" y="2612877"/>
                    <a:pt x="3172968" y="2649326"/>
                    <a:pt x="3224022" y="2612115"/>
                  </a:cubicBezTo>
                  <a:lnTo>
                    <a:pt x="4918202" y="1375897"/>
                  </a:lnTo>
                  <a:cubicBezTo>
                    <a:pt x="4960366" y="1345163"/>
                    <a:pt x="4960366" y="1282044"/>
                    <a:pt x="4918075" y="1251183"/>
                  </a:cubicBezTo>
                  <a:close/>
                </a:path>
              </a:pathLst>
            </a:custGeom>
            <a:solidFill>
              <a:srgbClr val="2381A1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21"/>
              <a:ext cx="4949809" cy="2627081"/>
            </a:xfrm>
            <a:custGeom>
              <a:avLst/>
              <a:gdLst/>
              <a:ahLst/>
              <a:cxnLst/>
              <a:rect l="l" t="t" r="r" b="b"/>
              <a:pathLst>
                <a:path w="4949809" h="2627081">
                  <a:moveTo>
                    <a:pt x="4918075" y="1251056"/>
                  </a:moveTo>
                  <a:lnTo>
                    <a:pt x="3224022" y="14965"/>
                  </a:lnTo>
                  <a:cubicBezTo>
                    <a:pt x="3172968" y="-22246"/>
                    <a:pt x="3101213" y="14203"/>
                    <a:pt x="3101213" y="77322"/>
                  </a:cubicBezTo>
                  <a:lnTo>
                    <a:pt x="3101213" y="398886"/>
                  </a:lnTo>
                  <a:lnTo>
                    <a:pt x="77216" y="398886"/>
                  </a:lnTo>
                  <a:cubicBezTo>
                    <a:pt x="34544" y="398886"/>
                    <a:pt x="0" y="433430"/>
                    <a:pt x="0" y="476102"/>
                  </a:cubicBezTo>
                  <a:lnTo>
                    <a:pt x="0" y="2150978"/>
                  </a:lnTo>
                  <a:cubicBezTo>
                    <a:pt x="0" y="2193650"/>
                    <a:pt x="34544" y="2228194"/>
                    <a:pt x="77216" y="2228194"/>
                  </a:cubicBezTo>
                  <a:lnTo>
                    <a:pt x="3101213" y="2228194"/>
                  </a:lnTo>
                  <a:lnTo>
                    <a:pt x="3101213" y="2549758"/>
                  </a:lnTo>
                  <a:cubicBezTo>
                    <a:pt x="3101213" y="2612877"/>
                    <a:pt x="3172968" y="2649326"/>
                    <a:pt x="3224022" y="2612115"/>
                  </a:cubicBezTo>
                  <a:lnTo>
                    <a:pt x="4918202" y="1375897"/>
                  </a:lnTo>
                  <a:cubicBezTo>
                    <a:pt x="4960366" y="1345036"/>
                    <a:pt x="4960366" y="1281917"/>
                    <a:pt x="4918075" y="1251056"/>
                  </a:cubicBezTo>
                  <a:close/>
                </a:path>
              </a:pathLst>
            </a:custGeom>
            <a:solidFill>
              <a:srgbClr val="2381A1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0093105" y="3859027"/>
            <a:ext cx="934047" cy="507349"/>
            <a:chOff x="0" y="0"/>
            <a:chExt cx="5066919" cy="2752217"/>
          </a:xfrm>
        </p:grpSpPr>
        <p:sp>
          <p:nvSpPr>
            <p:cNvPr id="24" name="Freeform 24"/>
            <p:cNvSpPr/>
            <p:nvPr/>
          </p:nvSpPr>
          <p:spPr>
            <a:xfrm>
              <a:off x="117094" y="125116"/>
              <a:ext cx="4949809" cy="2627081"/>
            </a:xfrm>
            <a:custGeom>
              <a:avLst/>
              <a:gdLst/>
              <a:ahLst/>
              <a:cxnLst/>
              <a:rect l="l" t="t" r="r" b="b"/>
              <a:pathLst>
                <a:path w="4949809" h="2627081">
                  <a:moveTo>
                    <a:pt x="4918075" y="1251183"/>
                  </a:moveTo>
                  <a:lnTo>
                    <a:pt x="3223895" y="14965"/>
                  </a:lnTo>
                  <a:cubicBezTo>
                    <a:pt x="3172841" y="-22246"/>
                    <a:pt x="3101086" y="14203"/>
                    <a:pt x="3101086" y="77322"/>
                  </a:cubicBezTo>
                  <a:lnTo>
                    <a:pt x="3101086" y="398886"/>
                  </a:lnTo>
                  <a:lnTo>
                    <a:pt x="77216" y="398886"/>
                  </a:lnTo>
                  <a:cubicBezTo>
                    <a:pt x="34544" y="398886"/>
                    <a:pt x="0" y="433430"/>
                    <a:pt x="0" y="476102"/>
                  </a:cubicBezTo>
                  <a:lnTo>
                    <a:pt x="0" y="2150978"/>
                  </a:lnTo>
                  <a:cubicBezTo>
                    <a:pt x="0" y="2193650"/>
                    <a:pt x="34544" y="2228194"/>
                    <a:pt x="77216" y="2228194"/>
                  </a:cubicBezTo>
                  <a:lnTo>
                    <a:pt x="3101213" y="2228194"/>
                  </a:lnTo>
                  <a:lnTo>
                    <a:pt x="3101213" y="2549758"/>
                  </a:lnTo>
                  <a:cubicBezTo>
                    <a:pt x="3101213" y="2612877"/>
                    <a:pt x="3172968" y="2649326"/>
                    <a:pt x="3224022" y="2612115"/>
                  </a:cubicBezTo>
                  <a:lnTo>
                    <a:pt x="4918202" y="1375897"/>
                  </a:lnTo>
                  <a:cubicBezTo>
                    <a:pt x="4960366" y="1345163"/>
                    <a:pt x="4960366" y="1282044"/>
                    <a:pt x="4918075" y="1251183"/>
                  </a:cubicBezTo>
                  <a:close/>
                </a:path>
              </a:pathLst>
            </a:custGeom>
            <a:solidFill>
              <a:srgbClr val="2381A1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21"/>
              <a:ext cx="4949809" cy="2627081"/>
            </a:xfrm>
            <a:custGeom>
              <a:avLst/>
              <a:gdLst/>
              <a:ahLst/>
              <a:cxnLst/>
              <a:rect l="l" t="t" r="r" b="b"/>
              <a:pathLst>
                <a:path w="4949809" h="2627081">
                  <a:moveTo>
                    <a:pt x="4918075" y="1251056"/>
                  </a:moveTo>
                  <a:lnTo>
                    <a:pt x="3224022" y="14965"/>
                  </a:lnTo>
                  <a:cubicBezTo>
                    <a:pt x="3172968" y="-22246"/>
                    <a:pt x="3101213" y="14203"/>
                    <a:pt x="3101213" y="77322"/>
                  </a:cubicBezTo>
                  <a:lnTo>
                    <a:pt x="3101213" y="398886"/>
                  </a:lnTo>
                  <a:lnTo>
                    <a:pt x="77216" y="398886"/>
                  </a:lnTo>
                  <a:cubicBezTo>
                    <a:pt x="34544" y="398886"/>
                    <a:pt x="0" y="433430"/>
                    <a:pt x="0" y="476102"/>
                  </a:cubicBezTo>
                  <a:lnTo>
                    <a:pt x="0" y="2150978"/>
                  </a:lnTo>
                  <a:cubicBezTo>
                    <a:pt x="0" y="2193650"/>
                    <a:pt x="34544" y="2228194"/>
                    <a:pt x="77216" y="2228194"/>
                  </a:cubicBezTo>
                  <a:lnTo>
                    <a:pt x="3101213" y="2228194"/>
                  </a:lnTo>
                  <a:lnTo>
                    <a:pt x="3101213" y="2549758"/>
                  </a:lnTo>
                  <a:cubicBezTo>
                    <a:pt x="3101213" y="2612877"/>
                    <a:pt x="3172968" y="2649326"/>
                    <a:pt x="3224022" y="2612115"/>
                  </a:cubicBezTo>
                  <a:lnTo>
                    <a:pt x="4918202" y="1375897"/>
                  </a:lnTo>
                  <a:cubicBezTo>
                    <a:pt x="4960366" y="1345036"/>
                    <a:pt x="4960366" y="1281917"/>
                    <a:pt x="4918075" y="1251056"/>
                  </a:cubicBezTo>
                  <a:close/>
                </a:path>
              </a:pathLst>
            </a:custGeom>
            <a:solidFill>
              <a:srgbClr val="2381A1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3789921" y="3917764"/>
            <a:ext cx="934047" cy="507349"/>
            <a:chOff x="0" y="0"/>
            <a:chExt cx="5066919" cy="2752217"/>
          </a:xfrm>
        </p:grpSpPr>
        <p:sp>
          <p:nvSpPr>
            <p:cNvPr id="27" name="Freeform 27"/>
            <p:cNvSpPr/>
            <p:nvPr/>
          </p:nvSpPr>
          <p:spPr>
            <a:xfrm>
              <a:off x="117094" y="125116"/>
              <a:ext cx="4949809" cy="2627081"/>
            </a:xfrm>
            <a:custGeom>
              <a:avLst/>
              <a:gdLst/>
              <a:ahLst/>
              <a:cxnLst/>
              <a:rect l="l" t="t" r="r" b="b"/>
              <a:pathLst>
                <a:path w="4949809" h="2627081">
                  <a:moveTo>
                    <a:pt x="4918075" y="1251183"/>
                  </a:moveTo>
                  <a:lnTo>
                    <a:pt x="3223895" y="14965"/>
                  </a:lnTo>
                  <a:cubicBezTo>
                    <a:pt x="3172841" y="-22246"/>
                    <a:pt x="3101086" y="14203"/>
                    <a:pt x="3101086" y="77322"/>
                  </a:cubicBezTo>
                  <a:lnTo>
                    <a:pt x="3101086" y="398886"/>
                  </a:lnTo>
                  <a:lnTo>
                    <a:pt x="77216" y="398886"/>
                  </a:lnTo>
                  <a:cubicBezTo>
                    <a:pt x="34544" y="398886"/>
                    <a:pt x="0" y="433430"/>
                    <a:pt x="0" y="476102"/>
                  </a:cubicBezTo>
                  <a:lnTo>
                    <a:pt x="0" y="2150978"/>
                  </a:lnTo>
                  <a:cubicBezTo>
                    <a:pt x="0" y="2193650"/>
                    <a:pt x="34544" y="2228194"/>
                    <a:pt x="77216" y="2228194"/>
                  </a:cubicBezTo>
                  <a:lnTo>
                    <a:pt x="3101213" y="2228194"/>
                  </a:lnTo>
                  <a:lnTo>
                    <a:pt x="3101213" y="2549758"/>
                  </a:lnTo>
                  <a:cubicBezTo>
                    <a:pt x="3101213" y="2612877"/>
                    <a:pt x="3172968" y="2649326"/>
                    <a:pt x="3224022" y="2612115"/>
                  </a:cubicBezTo>
                  <a:lnTo>
                    <a:pt x="4918202" y="1375897"/>
                  </a:lnTo>
                  <a:cubicBezTo>
                    <a:pt x="4960366" y="1345163"/>
                    <a:pt x="4960366" y="1282044"/>
                    <a:pt x="4918075" y="1251183"/>
                  </a:cubicBezTo>
                  <a:close/>
                </a:path>
              </a:pathLst>
            </a:custGeom>
            <a:solidFill>
              <a:srgbClr val="2381A1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21"/>
              <a:ext cx="4949809" cy="2627081"/>
            </a:xfrm>
            <a:custGeom>
              <a:avLst/>
              <a:gdLst/>
              <a:ahLst/>
              <a:cxnLst/>
              <a:rect l="l" t="t" r="r" b="b"/>
              <a:pathLst>
                <a:path w="4949809" h="2627081">
                  <a:moveTo>
                    <a:pt x="4918075" y="1251056"/>
                  </a:moveTo>
                  <a:lnTo>
                    <a:pt x="3224022" y="14965"/>
                  </a:lnTo>
                  <a:cubicBezTo>
                    <a:pt x="3172968" y="-22246"/>
                    <a:pt x="3101213" y="14203"/>
                    <a:pt x="3101213" y="77322"/>
                  </a:cubicBezTo>
                  <a:lnTo>
                    <a:pt x="3101213" y="398886"/>
                  </a:lnTo>
                  <a:lnTo>
                    <a:pt x="77216" y="398886"/>
                  </a:lnTo>
                  <a:cubicBezTo>
                    <a:pt x="34544" y="398886"/>
                    <a:pt x="0" y="433430"/>
                    <a:pt x="0" y="476102"/>
                  </a:cubicBezTo>
                  <a:lnTo>
                    <a:pt x="0" y="2150978"/>
                  </a:lnTo>
                  <a:cubicBezTo>
                    <a:pt x="0" y="2193650"/>
                    <a:pt x="34544" y="2228194"/>
                    <a:pt x="77216" y="2228194"/>
                  </a:cubicBezTo>
                  <a:lnTo>
                    <a:pt x="3101213" y="2228194"/>
                  </a:lnTo>
                  <a:lnTo>
                    <a:pt x="3101213" y="2549758"/>
                  </a:lnTo>
                  <a:cubicBezTo>
                    <a:pt x="3101213" y="2612877"/>
                    <a:pt x="3172968" y="2649326"/>
                    <a:pt x="3224022" y="2612115"/>
                  </a:cubicBezTo>
                  <a:lnTo>
                    <a:pt x="4918202" y="1375897"/>
                  </a:lnTo>
                  <a:cubicBezTo>
                    <a:pt x="4960366" y="1345036"/>
                    <a:pt x="4960366" y="1281917"/>
                    <a:pt x="4918075" y="1251056"/>
                  </a:cubicBezTo>
                  <a:close/>
                </a:path>
              </a:pathLst>
            </a:custGeom>
            <a:solidFill>
              <a:srgbClr val="2381A1"/>
            </a:solidFill>
          </p:spPr>
        </p:sp>
      </p:grpSp>
      <p:sp>
        <p:nvSpPr>
          <p:cNvPr id="29" name="Freeform 29"/>
          <p:cNvSpPr/>
          <p:nvPr/>
        </p:nvSpPr>
        <p:spPr>
          <a:xfrm>
            <a:off x="11936443" y="5143500"/>
            <a:ext cx="4277040" cy="3882970"/>
          </a:xfrm>
          <a:custGeom>
            <a:avLst/>
            <a:gdLst/>
            <a:ahLst/>
            <a:cxnLst/>
            <a:rect l="l" t="t" r="r" b="b"/>
            <a:pathLst>
              <a:path w="4277040" h="3882970">
                <a:moveTo>
                  <a:pt x="0" y="0"/>
                </a:moveTo>
                <a:lnTo>
                  <a:pt x="4277040" y="0"/>
                </a:lnTo>
                <a:lnTo>
                  <a:pt x="4277040" y="3882970"/>
                </a:lnTo>
                <a:lnTo>
                  <a:pt x="0" y="3882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2" b="-772"/>
            </a:stretch>
          </a:blipFill>
        </p:spPr>
      </p:sp>
      <p:grpSp>
        <p:nvGrpSpPr>
          <p:cNvPr id="30" name="Group 30"/>
          <p:cNvGrpSpPr/>
          <p:nvPr/>
        </p:nvGrpSpPr>
        <p:grpSpPr>
          <a:xfrm rot="-10800000">
            <a:off x="9924925" y="6831310"/>
            <a:ext cx="934047" cy="507349"/>
            <a:chOff x="0" y="0"/>
            <a:chExt cx="5066919" cy="2752217"/>
          </a:xfrm>
        </p:grpSpPr>
        <p:sp>
          <p:nvSpPr>
            <p:cNvPr id="31" name="Freeform 31"/>
            <p:cNvSpPr/>
            <p:nvPr/>
          </p:nvSpPr>
          <p:spPr>
            <a:xfrm>
              <a:off x="117094" y="125116"/>
              <a:ext cx="4949809" cy="2627081"/>
            </a:xfrm>
            <a:custGeom>
              <a:avLst/>
              <a:gdLst/>
              <a:ahLst/>
              <a:cxnLst/>
              <a:rect l="l" t="t" r="r" b="b"/>
              <a:pathLst>
                <a:path w="4949809" h="2627081">
                  <a:moveTo>
                    <a:pt x="4918075" y="1251183"/>
                  </a:moveTo>
                  <a:lnTo>
                    <a:pt x="3223895" y="14965"/>
                  </a:lnTo>
                  <a:cubicBezTo>
                    <a:pt x="3172841" y="-22246"/>
                    <a:pt x="3101086" y="14203"/>
                    <a:pt x="3101086" y="77322"/>
                  </a:cubicBezTo>
                  <a:lnTo>
                    <a:pt x="3101086" y="398886"/>
                  </a:lnTo>
                  <a:lnTo>
                    <a:pt x="77216" y="398886"/>
                  </a:lnTo>
                  <a:cubicBezTo>
                    <a:pt x="34544" y="398886"/>
                    <a:pt x="0" y="433430"/>
                    <a:pt x="0" y="476102"/>
                  </a:cubicBezTo>
                  <a:lnTo>
                    <a:pt x="0" y="2150978"/>
                  </a:lnTo>
                  <a:cubicBezTo>
                    <a:pt x="0" y="2193650"/>
                    <a:pt x="34544" y="2228194"/>
                    <a:pt x="77216" y="2228194"/>
                  </a:cubicBezTo>
                  <a:lnTo>
                    <a:pt x="3101213" y="2228194"/>
                  </a:lnTo>
                  <a:lnTo>
                    <a:pt x="3101213" y="2549758"/>
                  </a:lnTo>
                  <a:cubicBezTo>
                    <a:pt x="3101213" y="2612877"/>
                    <a:pt x="3172968" y="2649326"/>
                    <a:pt x="3224022" y="2612115"/>
                  </a:cubicBezTo>
                  <a:lnTo>
                    <a:pt x="4918202" y="1375897"/>
                  </a:lnTo>
                  <a:cubicBezTo>
                    <a:pt x="4960366" y="1345163"/>
                    <a:pt x="4960366" y="1282044"/>
                    <a:pt x="4918075" y="1251183"/>
                  </a:cubicBezTo>
                  <a:close/>
                </a:path>
              </a:pathLst>
            </a:custGeom>
            <a:solidFill>
              <a:srgbClr val="2381A1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21"/>
              <a:ext cx="4949809" cy="2627081"/>
            </a:xfrm>
            <a:custGeom>
              <a:avLst/>
              <a:gdLst/>
              <a:ahLst/>
              <a:cxnLst/>
              <a:rect l="l" t="t" r="r" b="b"/>
              <a:pathLst>
                <a:path w="4949809" h="2627081">
                  <a:moveTo>
                    <a:pt x="4918075" y="1251056"/>
                  </a:moveTo>
                  <a:lnTo>
                    <a:pt x="3224022" y="14965"/>
                  </a:lnTo>
                  <a:cubicBezTo>
                    <a:pt x="3172968" y="-22246"/>
                    <a:pt x="3101213" y="14203"/>
                    <a:pt x="3101213" y="77322"/>
                  </a:cubicBezTo>
                  <a:lnTo>
                    <a:pt x="3101213" y="398886"/>
                  </a:lnTo>
                  <a:lnTo>
                    <a:pt x="77216" y="398886"/>
                  </a:lnTo>
                  <a:cubicBezTo>
                    <a:pt x="34544" y="398886"/>
                    <a:pt x="0" y="433430"/>
                    <a:pt x="0" y="476102"/>
                  </a:cubicBezTo>
                  <a:lnTo>
                    <a:pt x="0" y="2150978"/>
                  </a:lnTo>
                  <a:cubicBezTo>
                    <a:pt x="0" y="2193650"/>
                    <a:pt x="34544" y="2228194"/>
                    <a:pt x="77216" y="2228194"/>
                  </a:cubicBezTo>
                  <a:lnTo>
                    <a:pt x="3101213" y="2228194"/>
                  </a:lnTo>
                  <a:lnTo>
                    <a:pt x="3101213" y="2549758"/>
                  </a:lnTo>
                  <a:cubicBezTo>
                    <a:pt x="3101213" y="2612877"/>
                    <a:pt x="3172968" y="2649326"/>
                    <a:pt x="3224022" y="2612115"/>
                  </a:cubicBezTo>
                  <a:lnTo>
                    <a:pt x="4918202" y="1375897"/>
                  </a:lnTo>
                  <a:cubicBezTo>
                    <a:pt x="4960366" y="1345036"/>
                    <a:pt x="4960366" y="1281917"/>
                    <a:pt x="4918075" y="1251056"/>
                  </a:cubicBezTo>
                  <a:close/>
                </a:path>
              </a:pathLst>
            </a:custGeom>
            <a:solidFill>
              <a:srgbClr val="2381A1"/>
            </a:solidFill>
          </p:spPr>
        </p:sp>
      </p:grpSp>
      <p:sp>
        <p:nvSpPr>
          <p:cNvPr id="33" name="Freeform 33"/>
          <p:cNvSpPr/>
          <p:nvPr/>
        </p:nvSpPr>
        <p:spPr>
          <a:xfrm>
            <a:off x="2481929" y="5143500"/>
            <a:ext cx="7003147" cy="3995498"/>
          </a:xfrm>
          <a:custGeom>
            <a:avLst/>
            <a:gdLst/>
            <a:ahLst/>
            <a:cxnLst/>
            <a:rect l="l" t="t" r="r" b="b"/>
            <a:pathLst>
              <a:path w="7003147" h="3995498">
                <a:moveTo>
                  <a:pt x="0" y="0"/>
                </a:moveTo>
                <a:lnTo>
                  <a:pt x="7003147" y="0"/>
                </a:lnTo>
                <a:lnTo>
                  <a:pt x="7003147" y="3995498"/>
                </a:lnTo>
                <a:lnTo>
                  <a:pt x="0" y="3995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4353054" y="339480"/>
            <a:ext cx="1024992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QUY TRÌNH ĐẶT HÀNG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2553" y="3776226"/>
            <a:ext cx="1147465" cy="701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51D4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Xem sản </a:t>
            </a:r>
          </a:p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51D4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phẩm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492656" y="3635227"/>
            <a:ext cx="1329035" cy="105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51D4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Thêm/cập </a:t>
            </a:r>
          </a:p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51D4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nhật </a:t>
            </a:r>
          </a:p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51D4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giỏ hàng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276787" y="3973038"/>
            <a:ext cx="1201229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51D4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Checkout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684377" y="3635227"/>
            <a:ext cx="1532558" cy="105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51D4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Tạo đơn </a:t>
            </a:r>
          </a:p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51D4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và</a:t>
            </a:r>
          </a:p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51D4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trừ tồn kho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171035" y="3952402"/>
            <a:ext cx="1454981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51D4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Thanh toán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391948" y="9328043"/>
            <a:ext cx="819519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HÌNH: ĐƠN HÀNG ĐÃ ĐƯỢC ĐẶT THÀNH CÔNG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036528" y="9258300"/>
            <a:ext cx="819519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HÌNH: ĐƠN HÀNG ĐÃ GIAO ĐẶT THÀNH CÔNG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94561" y="1296415"/>
            <a:ext cx="5822966" cy="3880475"/>
          </a:xfrm>
          <a:custGeom>
            <a:avLst/>
            <a:gdLst/>
            <a:ahLst/>
            <a:cxnLst/>
            <a:rect l="l" t="t" r="r" b="b"/>
            <a:pathLst>
              <a:path w="5822966" h="3880475">
                <a:moveTo>
                  <a:pt x="0" y="0"/>
                </a:moveTo>
                <a:lnTo>
                  <a:pt x="5822965" y="0"/>
                </a:lnTo>
                <a:lnTo>
                  <a:pt x="5822965" y="3880475"/>
                </a:lnTo>
                <a:lnTo>
                  <a:pt x="0" y="3880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78016" y="5736557"/>
            <a:ext cx="6494133" cy="3754165"/>
          </a:xfrm>
          <a:custGeom>
            <a:avLst/>
            <a:gdLst/>
            <a:ahLst/>
            <a:cxnLst/>
            <a:rect l="l" t="t" r="r" b="b"/>
            <a:pathLst>
              <a:path w="6494133" h="3754165">
                <a:moveTo>
                  <a:pt x="0" y="0"/>
                </a:moveTo>
                <a:lnTo>
                  <a:pt x="6494133" y="0"/>
                </a:lnTo>
                <a:lnTo>
                  <a:pt x="6494133" y="3754165"/>
                </a:lnTo>
                <a:lnTo>
                  <a:pt x="0" y="37541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353054" y="339480"/>
            <a:ext cx="1024992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KẾT QUẢ THỰC NGHIỆM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83904" y="5256422"/>
            <a:ext cx="8195193" cy="44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spcBef>
                <a:spcPct val="0"/>
              </a:spcBef>
            </a:pPr>
            <a:r>
              <a:rPr lang="en-US" sz="3000" b="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HÌNH: TRANG ĐĂNG NHẬP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83904" y="9666712"/>
            <a:ext cx="8195193" cy="44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spcBef>
                <a:spcPct val="0"/>
              </a:spcBef>
            </a:pPr>
            <a:r>
              <a:rPr lang="en-US" sz="3000" b="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HÌNH: QUẢN LÝ ĐƠN HÀNG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29389" y="2349741"/>
            <a:ext cx="4448175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AutoNum type="arabicPeriod"/>
            </a:pPr>
            <a:r>
              <a:rPr lang="en-US" sz="2199" b="1">
                <a:solidFill>
                  <a:srgbClr val="051D4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199" b="1" u="none" strike="noStrike">
                <a:solidFill>
                  <a:srgbClr val="051D4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Chức năng phía khách hàng</a:t>
            </a:r>
          </a:p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endParaRPr lang="en-US" sz="2199" b="1" u="none" strike="noStrike">
              <a:solidFill>
                <a:srgbClr val="051D4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61715" y="2854058"/>
            <a:ext cx="8006537" cy="349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endParaRPr/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Đăng ký, đăng nhập &amp; quản lý thông tin cá nhân.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Tìm kiếm &amp; lọc sản phẩm theo Size, Màu sắc, Thương hiệu, Giá.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Chọn biến thể sản phẩm (SKU) và kiểm tra tồn kho thực tế.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Quản lý giỏ hàng trực tuyến &amp; danh sách Yêu thích.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Đặt hàng thanh toán COD &amp; theo dõi lịch sử đơn hàng.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Hủy đơn hàng và tự động hoàn trả số lượng tồn kho.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98689" y="1285139"/>
            <a:ext cx="5314494" cy="3734067"/>
          </a:xfrm>
          <a:custGeom>
            <a:avLst/>
            <a:gdLst/>
            <a:ahLst/>
            <a:cxnLst/>
            <a:rect l="l" t="t" r="r" b="b"/>
            <a:pathLst>
              <a:path w="5314494" h="3734067">
                <a:moveTo>
                  <a:pt x="0" y="0"/>
                </a:moveTo>
                <a:lnTo>
                  <a:pt x="5314494" y="0"/>
                </a:lnTo>
                <a:lnTo>
                  <a:pt x="5314494" y="3734067"/>
                </a:lnTo>
                <a:lnTo>
                  <a:pt x="0" y="3734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61094" y="1579799"/>
            <a:ext cx="5469310" cy="7359879"/>
          </a:xfrm>
          <a:custGeom>
            <a:avLst/>
            <a:gdLst/>
            <a:ahLst/>
            <a:cxnLst/>
            <a:rect l="l" t="t" r="r" b="b"/>
            <a:pathLst>
              <a:path w="5469310" h="7359879">
                <a:moveTo>
                  <a:pt x="0" y="0"/>
                </a:moveTo>
                <a:lnTo>
                  <a:pt x="5469311" y="0"/>
                </a:lnTo>
                <a:lnTo>
                  <a:pt x="5469311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134206" y="5493546"/>
            <a:ext cx="5643460" cy="3687328"/>
          </a:xfrm>
          <a:custGeom>
            <a:avLst/>
            <a:gdLst/>
            <a:ahLst/>
            <a:cxnLst/>
            <a:rect l="l" t="t" r="r" b="b"/>
            <a:pathLst>
              <a:path w="5643460" h="3687328">
                <a:moveTo>
                  <a:pt x="0" y="0"/>
                </a:moveTo>
                <a:lnTo>
                  <a:pt x="5643460" y="0"/>
                </a:lnTo>
                <a:lnTo>
                  <a:pt x="5643460" y="3687328"/>
                </a:lnTo>
                <a:lnTo>
                  <a:pt x="0" y="368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353054" y="339480"/>
            <a:ext cx="1024992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KẾT QUẢ THỰC NGHIỆM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57941" y="9160097"/>
            <a:ext cx="8195193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HÌNH: TRANG SẢN PHẨM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1461" y="5051511"/>
            <a:ext cx="8195193" cy="44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spcBef>
                <a:spcPct val="0"/>
              </a:spcBef>
            </a:pPr>
            <a:r>
              <a:rPr lang="en-US" sz="3000" b="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HÌNH: CHI TIẾT SẢN PHẨM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456" y="9282700"/>
            <a:ext cx="8195193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HÌNH: GIỎ HÀNG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68924" y="6446453"/>
            <a:ext cx="5359726" cy="4755538"/>
          </a:xfrm>
          <a:custGeom>
            <a:avLst/>
            <a:gdLst/>
            <a:ahLst/>
            <a:cxnLst/>
            <a:rect l="l" t="t" r="r" b="b"/>
            <a:pathLst>
              <a:path w="5359726" h="4755538">
                <a:moveTo>
                  <a:pt x="0" y="0"/>
                </a:moveTo>
                <a:lnTo>
                  <a:pt x="5359725" y="0"/>
                </a:lnTo>
                <a:lnTo>
                  <a:pt x="5359725" y="4755538"/>
                </a:lnTo>
                <a:lnTo>
                  <a:pt x="0" y="4755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582931" y="1019520"/>
            <a:ext cx="7254420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6061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KẾT LUẬN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05000" y="1714500"/>
            <a:ext cx="4056405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7" lvl="1" indent="-280669" algn="l">
              <a:lnSpc>
                <a:spcPts val="2833"/>
              </a:lnSpc>
              <a:spcBef>
                <a:spcPct val="0"/>
              </a:spcBef>
              <a:buAutoNum type="arabicPeriod"/>
            </a:pPr>
            <a:r>
              <a:rPr lang="en-US" sz="2599" b="1" dirty="0">
                <a:solidFill>
                  <a:srgbClr val="051D4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KẾT QUẢ ĐẠT ĐƯỢC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535475"/>
            <a:ext cx="7283040" cy="520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7364" lvl="1" indent="-253682" algn="l">
              <a:lnSpc>
                <a:spcPts val="2561"/>
              </a:lnSpc>
              <a:buFont typeface="Arial"/>
              <a:buChar char="•"/>
            </a:pPr>
            <a:r>
              <a:rPr lang="en-US" sz="2349" dirty="0">
                <a:solidFill>
                  <a:srgbClr val="051D40"/>
                </a:solidFill>
                <a:latin typeface="Noto Sans"/>
                <a:ea typeface="Noto Sans"/>
                <a:cs typeface="Noto Sans"/>
                <a:sym typeface="Noto Sans"/>
              </a:rPr>
              <a:t>HOÀN THIỆN WEBSITE E-COMMERCE BÁN GIÀY SHOESTORE TRÊN NỀN TẢNG ASP.NET CORE 9.0 MVC &amp; SQL SERVER.</a:t>
            </a:r>
          </a:p>
          <a:p>
            <a:pPr algn="l">
              <a:lnSpc>
                <a:spcPts val="2561"/>
              </a:lnSpc>
            </a:pPr>
            <a:endParaRPr lang="en-US" sz="2349" dirty="0">
              <a:solidFill>
                <a:srgbClr val="051D4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507364" lvl="1" indent="-253682" algn="l">
              <a:lnSpc>
                <a:spcPts val="2561"/>
              </a:lnSpc>
              <a:buFont typeface="Arial"/>
              <a:buChar char="•"/>
            </a:pPr>
            <a:r>
              <a:rPr lang="en-US" sz="2349" dirty="0">
                <a:solidFill>
                  <a:srgbClr val="051D40"/>
                </a:solidFill>
                <a:latin typeface="Noto Sans"/>
                <a:ea typeface="Noto Sans"/>
                <a:cs typeface="Noto Sans"/>
                <a:sym typeface="Noto Sans"/>
              </a:rPr>
              <a:t>XÂY DỰNG TRẢI NGHIỆM KHÁCH HÀNG TOÀN DIỆN: TÌM KIẾM, LỌC ĐA TIÊU CHÍ (SIZE/COLOR/PRICE/BRAND), CHI TIẾT BIẾN THỂ SKU, GIỎ HÀNG, YÊU THÍCH VÀ ĐẶT HÀNG COD.</a:t>
            </a:r>
          </a:p>
          <a:p>
            <a:pPr algn="l">
              <a:lnSpc>
                <a:spcPts val="2561"/>
              </a:lnSpc>
            </a:pPr>
            <a:endParaRPr lang="en-US" sz="2349" dirty="0">
              <a:solidFill>
                <a:srgbClr val="051D4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507364" lvl="1" indent="-253682" algn="l">
              <a:lnSpc>
                <a:spcPts val="2561"/>
              </a:lnSpc>
              <a:buFont typeface="Arial"/>
              <a:buChar char="•"/>
            </a:pPr>
            <a:r>
              <a:rPr lang="en-US" sz="2349" dirty="0">
                <a:solidFill>
                  <a:srgbClr val="051D40"/>
                </a:solidFill>
                <a:latin typeface="Noto Sans"/>
                <a:ea typeface="Noto Sans"/>
                <a:cs typeface="Noto Sans"/>
                <a:sym typeface="Noto Sans"/>
              </a:rPr>
              <a:t>ĐẢM BẢO AN TOÀN GIAO DỊCH &amp; BẢO MẬT BACKEND: KHÓA TỒN KHO REALTIME (SERIALIZABLE TRANSACTION), CHỐNG ĐẶT TRÙNG ĐƠN (IDEMPOTENCY TOKEN), TÍNH GIÁ SERVER-SIDE VÀ TỰ ĐỘNG HOÀN KHO KHI HỦY ĐƠN.</a:t>
            </a:r>
          </a:p>
          <a:p>
            <a:pPr algn="l">
              <a:lnSpc>
                <a:spcPts val="2706"/>
              </a:lnSpc>
            </a:pPr>
            <a:endParaRPr lang="en-US" sz="2349" dirty="0">
              <a:solidFill>
                <a:srgbClr val="051D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9144000" y="1897380"/>
            <a:ext cx="0" cy="64922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1125201" y="1897381"/>
            <a:ext cx="4097334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9" lvl="1" indent="-280669" algn="l">
              <a:lnSpc>
                <a:spcPts val="2833"/>
              </a:lnSpc>
              <a:spcBef>
                <a:spcPct val="0"/>
              </a:spcBef>
              <a:buAutoNum type="arabicPeriod"/>
            </a:pPr>
            <a:r>
              <a:rPr lang="en-US" sz="2599" b="1" dirty="0">
                <a:solidFill>
                  <a:srgbClr val="051D4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HƯỚNG PHÁT TRIỂN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37997" y="2604959"/>
            <a:ext cx="7853256" cy="4815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just">
              <a:lnSpc>
                <a:spcPts val="2724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51D40"/>
                </a:solidFill>
                <a:latin typeface="Noto Sans"/>
                <a:ea typeface="Noto Sans"/>
                <a:cs typeface="Noto Sans"/>
                <a:sym typeface="Noto Sans"/>
              </a:rPr>
              <a:t>PHÁT TRIỂN PHÂN HỆ QUẢN TRỊ VIÊN (ADMIN DASHBOARD): QUẢN LÝ SẢN PHẨM/SKU, DANH MỤC, KHO HÀNG, XỬ LÝ ĐƠN HÀNG VÀ BÁO CÁO DOANH THU.</a:t>
            </a:r>
          </a:p>
          <a:p>
            <a:pPr algn="just">
              <a:lnSpc>
                <a:spcPts val="2724"/>
              </a:lnSpc>
              <a:spcBef>
                <a:spcPct val="0"/>
              </a:spcBef>
            </a:pPr>
            <a:endParaRPr lang="en-US" sz="2499">
              <a:solidFill>
                <a:srgbClr val="051D4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539749" lvl="1" indent="-269875" algn="just">
              <a:lnSpc>
                <a:spcPts val="2724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51D40"/>
                </a:solidFill>
                <a:latin typeface="Noto Sans"/>
                <a:ea typeface="Noto Sans"/>
                <a:cs typeface="Noto Sans"/>
                <a:sym typeface="Noto Sans"/>
              </a:rPr>
              <a:t>TÍCH HỢP CỔNG THANH TOÁN TRỰC TUYẾN: GO-LIVE VNPAY, MOMO, ZALOPAY.</a:t>
            </a:r>
          </a:p>
          <a:p>
            <a:pPr marL="539749" lvl="1" indent="-269875" algn="just">
              <a:lnSpc>
                <a:spcPts val="2724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51D40"/>
                </a:solidFill>
                <a:latin typeface="Noto Sans"/>
                <a:ea typeface="Noto Sans"/>
                <a:cs typeface="Noto Sans"/>
                <a:sym typeface="Noto Sans"/>
              </a:rPr>
              <a:t>TÍCH HỢP AI RECOMMENDATION SYSTEM: GỢI Ý SẢN PHẨM CÁ NHÂN HÓA DỰA TRÊN HÀNH VI MUA SẮM.</a:t>
            </a:r>
          </a:p>
          <a:p>
            <a:pPr algn="just">
              <a:lnSpc>
                <a:spcPts val="2724"/>
              </a:lnSpc>
              <a:spcBef>
                <a:spcPct val="0"/>
              </a:spcBef>
            </a:pPr>
            <a:endParaRPr lang="en-US" sz="2499">
              <a:solidFill>
                <a:srgbClr val="051D4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539749" lvl="1" indent="-269875" algn="l">
              <a:lnSpc>
                <a:spcPts val="2724"/>
              </a:lnSpc>
              <a:buFont typeface="Arial"/>
              <a:buChar char="•"/>
            </a:pPr>
            <a:r>
              <a:rPr lang="en-US" sz="2499">
                <a:solidFill>
                  <a:srgbClr val="051D40"/>
                </a:solidFill>
                <a:latin typeface="Noto Sans"/>
                <a:ea typeface="Noto Sans"/>
                <a:cs typeface="Noto Sans"/>
                <a:sym typeface="Noto Sans"/>
              </a:rPr>
              <a:t>HỆ THỐNG THÔNG BÁO REALTIME (SIGNALR): TỰ ĐỘNG CẬP NHẬT TRẠNG THÁI GIAO HÀNG &amp; CHATBOT AI TƯ VẤN 24/7.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68318" y="-2824047"/>
            <a:ext cx="3852747" cy="385274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851686" y="2858315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349506" y="-30861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90437" y="3594072"/>
            <a:ext cx="15647226" cy="3529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5000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EM XIN CHÂN THÀNH CẢM ƠN!</a:t>
            </a:r>
          </a:p>
          <a:p>
            <a:pPr algn="ctr">
              <a:lnSpc>
                <a:spcPts val="5450"/>
              </a:lnSpc>
            </a:pPr>
            <a:endParaRPr lang="en-US" sz="5000" b="1" dirty="0">
              <a:solidFill>
                <a:srgbClr val="051D4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5450"/>
              </a:lnSpc>
            </a:pPr>
            <a:r>
              <a:rPr lang="en-US" sz="5000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KÍNH MONG NHẬN ĐƯỢC Ý KIẾN ĐÓNG GÓP CỦA QUÝ THẦY CÔTRONG HỘI ĐỒNG</a:t>
            </a:r>
          </a:p>
          <a:p>
            <a:pPr algn="ctr">
              <a:lnSpc>
                <a:spcPts val="5450"/>
              </a:lnSpc>
            </a:pPr>
            <a:endParaRPr lang="en-US" sz="5000" b="1" dirty="0">
              <a:solidFill>
                <a:srgbClr val="051D4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-3031172" y="2417472"/>
            <a:ext cx="5134435" cy="4555644"/>
          </a:xfrm>
          <a:custGeom>
            <a:avLst/>
            <a:gdLst/>
            <a:ahLst/>
            <a:cxnLst/>
            <a:rect l="l" t="t" r="r" b="b"/>
            <a:pathLst>
              <a:path w="5134435" h="4555644">
                <a:moveTo>
                  <a:pt x="0" y="0"/>
                </a:moveTo>
                <a:lnTo>
                  <a:pt x="5134434" y="0"/>
                </a:lnTo>
                <a:lnTo>
                  <a:pt x="5134434" y="4555643"/>
                </a:lnTo>
                <a:lnTo>
                  <a:pt x="0" y="45556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506691" y="6982640"/>
            <a:ext cx="10480397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SINH VIÊN: </a:t>
            </a:r>
            <a:r>
              <a:rPr lang="en-US" sz="3200" b="1" dirty="0" smtClean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LÝ TRIỆU VĨ </a:t>
            </a:r>
            <a:r>
              <a:rPr lang="en-US" sz="3200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— </a:t>
            </a:r>
            <a:r>
              <a:rPr lang="en-US" sz="3200" b="1" dirty="0" smtClean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170124706</a:t>
            </a:r>
            <a:r>
              <a:rPr lang="en-US" sz="3200" b="1" dirty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 — </a:t>
            </a:r>
            <a:r>
              <a:rPr lang="en-US" sz="3200" b="1" dirty="0" smtClean="0">
                <a:solidFill>
                  <a:srgbClr val="051D4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DK24TTK6 </a:t>
            </a:r>
            <a:endParaRPr lang="en-US" sz="3200" b="1" dirty="0">
              <a:solidFill>
                <a:srgbClr val="051D40"/>
              </a:solidFill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913</Words>
  <Application>Microsoft Office PowerPoint</Application>
  <PresentationFormat>Custom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Noto Sans</vt:lpstr>
      <vt:lpstr>Calibri</vt:lpstr>
      <vt:lpstr>Poppins Bold</vt:lpstr>
      <vt:lpstr>Poppins</vt:lpstr>
      <vt:lpstr>Noto Sans Bold</vt:lpstr>
      <vt:lpstr>Sansita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Đại học Mỏ Địa Chất</dc:title>
  <cp:lastModifiedBy>HP</cp:lastModifiedBy>
  <cp:revision>4</cp:revision>
  <dcterms:created xsi:type="dcterms:W3CDTF">2006-08-16T00:00:00Z</dcterms:created>
  <dcterms:modified xsi:type="dcterms:W3CDTF">2026-09-27T12:39:05Z</dcterms:modified>
  <dc:identifier>DAHSiOQ1L08</dc:identifier>
</cp:coreProperties>
</file>